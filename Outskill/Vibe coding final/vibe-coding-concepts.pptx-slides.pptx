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10972800" cy="1302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8800" b="0" i="0" spc="-140">
                <a:solidFill>
                  <a:srgbClr val="14110F"/>
                </a:solidFill>
                <a:latin typeface="Archivo Black"/>
              </a:rPr>
              <a:t>VIBE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871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3A342E"/>
                </a:solidFill>
                <a:latin typeface="Inter"/>
              </a:rPr>
              <a:t>rule over AI, don't let AI rule over you.</a:t>
            </a:r>
          </a:p>
        </p:txBody>
      </p:sp>
      <p:sp>
        <p:nvSpPr>
          <p:cNvPr id="4" name="Freeform 3"/>
          <p:cNvSpPr/>
          <p:nvPr/>
        </p:nvSpPr>
        <p:spPr>
          <a:xfrm>
            <a:off x="1447749" y="4146699"/>
            <a:ext cx="6065925" cy="1303660"/>
          </a:xfrm>
          <a:custGeom>
            <a:avLst/>
            <a:gdLst/>
            <a:ahLst/>
            <a:cxnLst/>
            <a:rect l="l" t="t" r="r" b="b"/>
            <a:pathLst>
              <a:path w="6065925" h="1303660">
                <a:moveTo>
                  <a:pt x="22474" y="1063083"/>
                </a:moveTo>
                <a:lnTo>
                  <a:pt x="14729" y="905287"/>
                </a:lnTo>
                <a:lnTo>
                  <a:pt x="24494" y="738422"/>
                </a:lnTo>
                <a:lnTo>
                  <a:pt x="3768" y="570636"/>
                </a:lnTo>
                <a:lnTo>
                  <a:pt x="0" y="407778"/>
                </a:lnTo>
                <a:lnTo>
                  <a:pt x="30210" y="243237"/>
                </a:lnTo>
                <a:lnTo>
                  <a:pt x="18688" y="186420"/>
                </a:lnTo>
                <a:lnTo>
                  <a:pt x="38719" y="117007"/>
                </a:lnTo>
                <a:lnTo>
                  <a:pt x="81229" y="74752"/>
                </a:lnTo>
                <a:lnTo>
                  <a:pt x="116562" y="31391"/>
                </a:lnTo>
                <a:lnTo>
                  <a:pt x="169971" y="28395"/>
                </a:lnTo>
                <a:lnTo>
                  <a:pt x="262367" y="0"/>
                </a:lnTo>
                <a:lnTo>
                  <a:pt x="1379256" y="1550"/>
                </a:lnTo>
                <a:lnTo>
                  <a:pt x="2489682" y="3285"/>
                </a:lnTo>
                <a:lnTo>
                  <a:pt x="3581460" y="21974"/>
                </a:lnTo>
                <a:lnTo>
                  <a:pt x="4694259" y="17376"/>
                </a:lnTo>
                <a:lnTo>
                  <a:pt x="5812300" y="11533"/>
                </a:lnTo>
                <a:lnTo>
                  <a:pt x="5885725" y="17771"/>
                </a:lnTo>
                <a:lnTo>
                  <a:pt x="5931274" y="45324"/>
                </a:lnTo>
                <a:lnTo>
                  <a:pt x="5990753" y="71872"/>
                </a:lnTo>
                <a:lnTo>
                  <a:pt x="6009800" y="115496"/>
                </a:lnTo>
                <a:lnTo>
                  <a:pt x="6050840" y="169132"/>
                </a:lnTo>
                <a:lnTo>
                  <a:pt x="6051202" y="241133"/>
                </a:lnTo>
                <a:lnTo>
                  <a:pt x="6043470" y="406635"/>
                </a:lnTo>
                <a:lnTo>
                  <a:pt x="6049607" y="554198"/>
                </a:lnTo>
                <a:lnTo>
                  <a:pt x="6043067" y="728345"/>
                </a:lnTo>
                <a:lnTo>
                  <a:pt x="6047300" y="886395"/>
                </a:lnTo>
                <a:lnTo>
                  <a:pt x="6065925" y="1039257"/>
                </a:lnTo>
                <a:lnTo>
                  <a:pt x="6057306" y="1128345"/>
                </a:lnTo>
                <a:lnTo>
                  <a:pt x="6020706" y="1172422"/>
                </a:lnTo>
                <a:lnTo>
                  <a:pt x="5985681" y="1243100"/>
                </a:lnTo>
                <a:lnTo>
                  <a:pt x="5954649" y="1260013"/>
                </a:lnTo>
                <a:lnTo>
                  <a:pt x="5878519" y="1303660"/>
                </a:lnTo>
                <a:lnTo>
                  <a:pt x="5801903" y="1292906"/>
                </a:lnTo>
                <a:lnTo>
                  <a:pt x="4703714" y="1289664"/>
                </a:lnTo>
                <a:lnTo>
                  <a:pt x="3578676" y="1294859"/>
                </a:lnTo>
                <a:lnTo>
                  <a:pt x="2471788" y="1299725"/>
                </a:lnTo>
                <a:lnTo>
                  <a:pt x="1363262" y="1291706"/>
                </a:lnTo>
                <a:lnTo>
                  <a:pt x="265399" y="1290808"/>
                </a:lnTo>
                <a:lnTo>
                  <a:pt x="182944" y="1296602"/>
                </a:lnTo>
                <a:lnTo>
                  <a:pt x="127623" y="1253224"/>
                </a:lnTo>
                <a:lnTo>
                  <a:pt x="69969" y="1243153"/>
                </a:lnTo>
                <a:lnTo>
                  <a:pt x="38340" y="1196814"/>
                </a:lnTo>
                <a:lnTo>
                  <a:pt x="12097" y="1116883"/>
                </a:lnTo>
                <a:close/>
              </a:path>
            </a:pathLst>
          </a:custGeom>
          <a:solidFill>
            <a:srgbClr val="B8E0A8"/>
          </a:solidFill>
          <a:ln w="28575" cap="rnd">
            <a:solidFill>
              <a:srgbClr val="4E8A3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4160520"/>
            <a:ext cx="60350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0" i="0" spc="-50">
                <a:solidFill>
                  <a:srgbClr val="1B1B1B"/>
                </a:solidFill>
                <a:latin typeface="Archivo Black"/>
              </a:rPr>
              <a:t>VIBE CODING 101</a:t>
            </a:r>
          </a:p>
        </p:txBody>
      </p:sp>
      <p:sp>
        <p:nvSpPr>
          <p:cNvPr id="6" name="Freeform 5"/>
          <p:cNvSpPr/>
          <p:nvPr/>
        </p:nvSpPr>
        <p:spPr>
          <a:xfrm>
            <a:off x="8764258" y="3979504"/>
            <a:ext cx="584498" cy="1387841"/>
          </a:xfrm>
          <a:custGeom>
            <a:avLst/>
            <a:gdLst/>
            <a:ahLst/>
            <a:cxnLst/>
            <a:rect l="l" t="t" r="r" b="b"/>
            <a:pathLst>
              <a:path w="584498" h="1387841">
                <a:moveTo>
                  <a:pt x="296137" y="0"/>
                </a:moveTo>
                <a:lnTo>
                  <a:pt x="584250" y="751857"/>
                </a:lnTo>
                <a:lnTo>
                  <a:pt x="584498" y="1384615"/>
                </a:lnTo>
                <a:lnTo>
                  <a:pt x="0" y="1387841"/>
                </a:lnTo>
                <a:lnTo>
                  <a:pt x="506" y="741237"/>
                </a:lnTo>
                <a:close/>
              </a:path>
            </a:pathLst>
          </a:custGeom>
          <a:solidFill>
            <a:srgbClr val="FFFFFF"/>
          </a:solidFill>
          <a:ln w="2857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8907163" y="4494790"/>
            <a:ext cx="284028" cy="279458"/>
          </a:xfrm>
          <a:custGeom>
            <a:avLst/>
            <a:gdLst/>
            <a:ahLst/>
            <a:cxnLst/>
            <a:rect l="l" t="t" r="r" b="b"/>
            <a:pathLst>
              <a:path w="284028" h="279458">
                <a:moveTo>
                  <a:pt x="271243" y="134048"/>
                </a:moveTo>
                <a:lnTo>
                  <a:pt x="284028" y="150883"/>
                </a:lnTo>
                <a:lnTo>
                  <a:pt x="276662" y="188288"/>
                </a:lnTo>
                <a:lnTo>
                  <a:pt x="263075" y="190416"/>
                </a:lnTo>
                <a:lnTo>
                  <a:pt x="258349" y="224216"/>
                </a:lnTo>
                <a:lnTo>
                  <a:pt x="242128" y="231110"/>
                </a:lnTo>
                <a:lnTo>
                  <a:pt x="240708" y="225659"/>
                </a:lnTo>
                <a:lnTo>
                  <a:pt x="221141" y="241118"/>
                </a:lnTo>
                <a:lnTo>
                  <a:pt x="219105" y="261581"/>
                </a:lnTo>
                <a:lnTo>
                  <a:pt x="207764" y="268738"/>
                </a:lnTo>
                <a:lnTo>
                  <a:pt x="176902" y="278868"/>
                </a:lnTo>
                <a:lnTo>
                  <a:pt x="159690" y="279458"/>
                </a:lnTo>
                <a:lnTo>
                  <a:pt x="136754" y="278978"/>
                </a:lnTo>
                <a:lnTo>
                  <a:pt x="117932" y="262890"/>
                </a:lnTo>
                <a:lnTo>
                  <a:pt x="104134" y="272463"/>
                </a:lnTo>
                <a:lnTo>
                  <a:pt x="105237" y="273052"/>
                </a:lnTo>
                <a:lnTo>
                  <a:pt x="76932" y="267820"/>
                </a:lnTo>
                <a:lnTo>
                  <a:pt x="51739" y="241082"/>
                </a:lnTo>
                <a:lnTo>
                  <a:pt x="38508" y="239474"/>
                </a:lnTo>
                <a:lnTo>
                  <a:pt x="33546" y="238995"/>
                </a:lnTo>
                <a:lnTo>
                  <a:pt x="19124" y="202143"/>
                </a:lnTo>
                <a:lnTo>
                  <a:pt x="18909" y="200256"/>
                </a:lnTo>
                <a:lnTo>
                  <a:pt x="26753" y="173004"/>
                </a:lnTo>
                <a:lnTo>
                  <a:pt x="7172" y="158290"/>
                </a:lnTo>
                <a:lnTo>
                  <a:pt x="0" y="137995"/>
                </a:lnTo>
                <a:lnTo>
                  <a:pt x="3161" y="118241"/>
                </a:lnTo>
                <a:lnTo>
                  <a:pt x="17173" y="99017"/>
                </a:lnTo>
                <a:lnTo>
                  <a:pt x="27125" y="89998"/>
                </a:lnTo>
                <a:lnTo>
                  <a:pt x="31204" y="79498"/>
                </a:lnTo>
                <a:lnTo>
                  <a:pt x="24644" y="48167"/>
                </a:lnTo>
                <a:lnTo>
                  <a:pt x="55018" y="41360"/>
                </a:lnTo>
                <a:lnTo>
                  <a:pt x="50463" y="42585"/>
                </a:lnTo>
                <a:lnTo>
                  <a:pt x="79421" y="29170"/>
                </a:lnTo>
                <a:lnTo>
                  <a:pt x="98000" y="24073"/>
                </a:lnTo>
                <a:lnTo>
                  <a:pt x="123507" y="24211"/>
                </a:lnTo>
                <a:lnTo>
                  <a:pt x="123632" y="0"/>
                </a:lnTo>
                <a:lnTo>
                  <a:pt x="156192" y="15206"/>
                </a:lnTo>
                <a:lnTo>
                  <a:pt x="160578" y="2166"/>
                </a:lnTo>
                <a:lnTo>
                  <a:pt x="187798" y="18251"/>
                </a:lnTo>
                <a:lnTo>
                  <a:pt x="196050" y="22071"/>
                </a:lnTo>
                <a:lnTo>
                  <a:pt x="209603" y="24880"/>
                </a:lnTo>
                <a:lnTo>
                  <a:pt x="231555" y="42651"/>
                </a:lnTo>
                <a:lnTo>
                  <a:pt x="232125" y="42448"/>
                </a:lnTo>
                <a:lnTo>
                  <a:pt x="239096" y="55569"/>
                </a:lnTo>
                <a:lnTo>
                  <a:pt x="256734" y="82635"/>
                </a:lnTo>
                <a:lnTo>
                  <a:pt x="264545" y="71246"/>
                </a:lnTo>
                <a:lnTo>
                  <a:pt x="278319" y="100493"/>
                </a:lnTo>
                <a:lnTo>
                  <a:pt x="267928" y="130753"/>
                </a:lnTo>
                <a:close/>
              </a:path>
            </a:pathLst>
          </a:custGeom>
          <a:solidFill>
            <a:srgbClr val="A9D3EE"/>
          </a:solidFill>
          <a:ln w="2032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8483590" y="4979242"/>
            <a:ext cx="271604" cy="513388"/>
          </a:xfrm>
          <a:custGeom>
            <a:avLst/>
            <a:gdLst/>
            <a:ahLst/>
            <a:cxnLst/>
            <a:rect l="l" t="t" r="r" b="b"/>
            <a:pathLst>
              <a:path w="271604" h="513388">
                <a:moveTo>
                  <a:pt x="269573" y="0"/>
                </a:moveTo>
                <a:lnTo>
                  <a:pt x="0" y="513388"/>
                </a:lnTo>
                <a:lnTo>
                  <a:pt x="271604" y="466351"/>
                </a:lnTo>
                <a:close/>
              </a:path>
            </a:pathLst>
          </a:custGeom>
          <a:solidFill>
            <a:srgbClr val="F0B3C2"/>
          </a:solidFill>
          <a:ln w="2222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338038" y="4985968"/>
            <a:ext cx="285235" cy="512241"/>
          </a:xfrm>
          <a:custGeom>
            <a:avLst/>
            <a:gdLst/>
            <a:ahLst/>
            <a:cxnLst/>
            <a:rect l="l" t="t" r="r" b="b"/>
            <a:pathLst>
              <a:path w="285235" h="512241">
                <a:moveTo>
                  <a:pt x="0" y="0"/>
                </a:moveTo>
                <a:lnTo>
                  <a:pt x="285235" y="512241"/>
                </a:lnTo>
                <a:lnTo>
                  <a:pt x="11894" y="459049"/>
                </a:lnTo>
                <a:close/>
              </a:path>
            </a:pathLst>
          </a:custGeom>
          <a:solidFill>
            <a:srgbClr val="F0B3C2"/>
          </a:solidFill>
          <a:ln w="2222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8796835" y="5412490"/>
            <a:ext cx="108816" cy="375576"/>
          </a:xfrm>
          <a:custGeom>
            <a:avLst/>
            <a:gdLst/>
            <a:ahLst/>
            <a:cxnLst/>
            <a:rect l="l" t="t" r="r" b="b"/>
            <a:pathLst>
              <a:path w="108816" h="375576">
                <a:moveTo>
                  <a:pt x="108816" y="0"/>
                </a:moveTo>
                <a:lnTo>
                  <a:pt x="0" y="375576"/>
                </a:lnTo>
              </a:path>
            </a:pathLst>
          </a:custGeom>
          <a:noFill/>
          <a:ln w="25400" cap="rnd">
            <a:solidFill>
              <a:srgbClr val="FF4D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58279" y="5400927"/>
            <a:ext cx="9082" cy="389421"/>
          </a:xfrm>
          <a:custGeom>
            <a:avLst/>
            <a:gdLst/>
            <a:ahLst/>
            <a:cxnLst/>
            <a:rect l="l" t="t" r="r" b="b"/>
            <a:pathLst>
              <a:path w="9082" h="389421">
                <a:moveTo>
                  <a:pt x="9082" y="0"/>
                </a:moveTo>
                <a:lnTo>
                  <a:pt x="0" y="389421"/>
                </a:lnTo>
              </a:path>
            </a:pathLst>
          </a:custGeom>
          <a:noFill/>
          <a:ln w="25400" cap="rnd">
            <a:solidFill>
              <a:srgbClr val="FF4D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196386" y="5402914"/>
            <a:ext cx="93907" cy="388902"/>
          </a:xfrm>
          <a:custGeom>
            <a:avLst/>
            <a:gdLst/>
            <a:ahLst/>
            <a:cxnLst/>
            <a:rect l="l" t="t" r="r" b="b"/>
            <a:pathLst>
              <a:path w="93907" h="388902">
                <a:moveTo>
                  <a:pt x="0" y="0"/>
                </a:moveTo>
                <a:lnTo>
                  <a:pt x="93907" y="388902"/>
                </a:lnTo>
              </a:path>
            </a:pathLst>
          </a:custGeom>
          <a:noFill/>
          <a:ln w="25400" cap="rnd">
            <a:solidFill>
              <a:srgbClr val="FF4D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200" b="0" i="0" spc="-140">
                <a:solidFill>
                  <a:srgbClr val="14110F"/>
                </a:solidFill>
                <a:latin typeface="Archivo Black"/>
              </a:rPr>
              <a:t>VIBE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21408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 u="none">
                <a:solidFill>
                  <a:srgbClr val="3A342E"/>
                </a:solidFill>
                <a:latin typeface="Inter"/>
              </a:rPr>
              <a:t>the </a:t>
            </a:r>
            <a:r>
              <a:rPr sz="2200" b="1" i="0" u="sng">
                <a:solidFill>
                  <a:srgbClr val="3A342E"/>
                </a:solidFill>
                <a:latin typeface="Inter"/>
              </a:rPr>
              <a:t>iterative</a:t>
            </a:r>
            <a:r>
              <a:rPr sz="2200" b="0" i="0" u="none">
                <a:solidFill>
                  <a:srgbClr val="3A342E"/>
                </a:solidFill>
                <a:latin typeface="Inter"/>
              </a:rPr>
              <a:t> process of building full-fledged websites and applications without writing a single line of code yourself.</a:t>
            </a:r>
          </a:p>
        </p:txBody>
      </p:sp>
      <p:sp>
        <p:nvSpPr>
          <p:cNvPr id="4" name="Freeform 3"/>
          <p:cNvSpPr/>
          <p:nvPr/>
        </p:nvSpPr>
        <p:spPr>
          <a:xfrm>
            <a:off x="1089657" y="3908822"/>
            <a:ext cx="3040301" cy="1941461"/>
          </a:xfrm>
          <a:custGeom>
            <a:avLst/>
            <a:gdLst/>
            <a:ahLst/>
            <a:cxnLst/>
            <a:rect l="l" t="t" r="r" b="b"/>
            <a:pathLst>
              <a:path w="3040301" h="1941461">
                <a:moveTo>
                  <a:pt x="18412" y="1696008"/>
                </a:moveTo>
                <a:lnTo>
                  <a:pt x="763" y="1405657"/>
                </a:lnTo>
                <a:lnTo>
                  <a:pt x="0" y="1109999"/>
                </a:lnTo>
                <a:lnTo>
                  <a:pt x="561" y="826978"/>
                </a:lnTo>
                <a:lnTo>
                  <a:pt x="19595" y="540270"/>
                </a:lnTo>
                <a:lnTo>
                  <a:pt x="2232" y="263086"/>
                </a:lnTo>
                <a:lnTo>
                  <a:pt x="322" y="189844"/>
                </a:lnTo>
                <a:lnTo>
                  <a:pt x="22896" y="117814"/>
                </a:lnTo>
                <a:lnTo>
                  <a:pt x="70079" y="63777"/>
                </a:lnTo>
                <a:lnTo>
                  <a:pt x="94392" y="50655"/>
                </a:lnTo>
                <a:lnTo>
                  <a:pt x="172335" y="12605"/>
                </a:lnTo>
                <a:lnTo>
                  <a:pt x="255769" y="12635"/>
                </a:lnTo>
                <a:lnTo>
                  <a:pt x="754885" y="18441"/>
                </a:lnTo>
                <a:lnTo>
                  <a:pt x="1266841" y="15526"/>
                </a:lnTo>
                <a:lnTo>
                  <a:pt x="1760035" y="21950"/>
                </a:lnTo>
                <a:lnTo>
                  <a:pt x="2294744" y="19440"/>
                </a:lnTo>
                <a:lnTo>
                  <a:pt x="2791228" y="0"/>
                </a:lnTo>
                <a:lnTo>
                  <a:pt x="2849034" y="16520"/>
                </a:lnTo>
                <a:lnTo>
                  <a:pt x="2914243" y="56469"/>
                </a:lnTo>
                <a:lnTo>
                  <a:pt x="2972859" y="74671"/>
                </a:lnTo>
                <a:lnTo>
                  <a:pt x="2992304" y="106324"/>
                </a:lnTo>
                <a:lnTo>
                  <a:pt x="3009827" y="176273"/>
                </a:lnTo>
                <a:lnTo>
                  <a:pt x="3040301" y="249452"/>
                </a:lnTo>
                <a:lnTo>
                  <a:pt x="3033976" y="545980"/>
                </a:lnTo>
                <a:lnTo>
                  <a:pt x="3020673" y="832643"/>
                </a:lnTo>
                <a:lnTo>
                  <a:pt x="3031575" y="1121557"/>
                </a:lnTo>
                <a:lnTo>
                  <a:pt x="3024710" y="1393767"/>
                </a:lnTo>
                <a:lnTo>
                  <a:pt x="3021156" y="1697702"/>
                </a:lnTo>
                <a:lnTo>
                  <a:pt x="3017344" y="1771156"/>
                </a:lnTo>
                <a:lnTo>
                  <a:pt x="2993332" y="1823735"/>
                </a:lnTo>
                <a:lnTo>
                  <a:pt x="2958678" y="1870706"/>
                </a:lnTo>
                <a:lnTo>
                  <a:pt x="2930382" y="1913040"/>
                </a:lnTo>
                <a:lnTo>
                  <a:pt x="2854050" y="1920611"/>
                </a:lnTo>
                <a:lnTo>
                  <a:pt x="2782646" y="1936934"/>
                </a:lnTo>
                <a:lnTo>
                  <a:pt x="2276339" y="1926415"/>
                </a:lnTo>
                <a:lnTo>
                  <a:pt x="1770838" y="1939147"/>
                </a:lnTo>
                <a:lnTo>
                  <a:pt x="1262737" y="1926615"/>
                </a:lnTo>
                <a:lnTo>
                  <a:pt x="748511" y="1941461"/>
                </a:lnTo>
                <a:lnTo>
                  <a:pt x="238622" y="1929669"/>
                </a:lnTo>
                <a:lnTo>
                  <a:pt x="170145" y="1919389"/>
                </a:lnTo>
                <a:lnTo>
                  <a:pt x="119949" y="1923029"/>
                </a:lnTo>
                <a:lnTo>
                  <a:pt x="83587" y="1880553"/>
                </a:lnTo>
                <a:lnTo>
                  <a:pt x="39529" y="1820429"/>
                </a:lnTo>
                <a:lnTo>
                  <a:pt x="5125" y="1763628"/>
                </a:lnTo>
                <a:close/>
              </a:path>
            </a:pathLst>
          </a:custGeom>
          <a:solidFill>
            <a:srgbClr val="A9D3EE"/>
          </a:solidFill>
          <a:ln w="28575" cap="rnd">
            <a:solidFill>
              <a:srgbClr val="2E6E9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64362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 spc="-30">
                <a:solidFill>
                  <a:srgbClr val="1B1B1B"/>
                </a:solidFill>
                <a:latin typeface="Archivo Black"/>
              </a:rPr>
              <a:t>START SMALL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8119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250" b="0" i="1">
                <a:solidFill>
                  <a:srgbClr val="1B1B1B"/>
                </a:solidFill>
                <a:latin typeface="Inter"/>
              </a:rPr>
              <a:t>don't ask for the whole app</a:t>
            </a:r>
          </a:p>
        </p:txBody>
      </p:sp>
      <p:sp>
        <p:nvSpPr>
          <p:cNvPr id="7" name="Freeform 6"/>
          <p:cNvSpPr/>
          <p:nvPr/>
        </p:nvSpPr>
        <p:spPr>
          <a:xfrm>
            <a:off x="4674208" y="3914886"/>
            <a:ext cx="3043407" cy="1933220"/>
          </a:xfrm>
          <a:custGeom>
            <a:avLst/>
            <a:gdLst/>
            <a:ahLst/>
            <a:cxnLst/>
            <a:rect l="l" t="t" r="r" b="b"/>
            <a:pathLst>
              <a:path w="3043407" h="1933220">
                <a:moveTo>
                  <a:pt x="1955" y="1691031"/>
                </a:moveTo>
                <a:lnTo>
                  <a:pt x="16153" y="1391236"/>
                </a:lnTo>
                <a:lnTo>
                  <a:pt x="6258" y="1119791"/>
                </a:lnTo>
                <a:lnTo>
                  <a:pt x="15541" y="808234"/>
                </a:lnTo>
                <a:lnTo>
                  <a:pt x="0" y="529207"/>
                </a:lnTo>
                <a:lnTo>
                  <a:pt x="5971" y="231738"/>
                </a:lnTo>
                <a:lnTo>
                  <a:pt x="131" y="163013"/>
                </a:lnTo>
                <a:lnTo>
                  <a:pt x="37895" y="110486"/>
                </a:lnTo>
                <a:lnTo>
                  <a:pt x="65196" y="83880"/>
                </a:lnTo>
                <a:lnTo>
                  <a:pt x="121032" y="18317"/>
                </a:lnTo>
                <a:lnTo>
                  <a:pt x="157918" y="703"/>
                </a:lnTo>
                <a:lnTo>
                  <a:pt x="241072" y="3708"/>
                </a:lnTo>
                <a:lnTo>
                  <a:pt x="763246" y="2720"/>
                </a:lnTo>
                <a:lnTo>
                  <a:pt x="1264285" y="20633"/>
                </a:lnTo>
                <a:lnTo>
                  <a:pt x="1772316" y="22324"/>
                </a:lnTo>
                <a:lnTo>
                  <a:pt x="2292683" y="12915"/>
                </a:lnTo>
                <a:lnTo>
                  <a:pt x="2773170" y="13506"/>
                </a:lnTo>
                <a:lnTo>
                  <a:pt x="2858288" y="0"/>
                </a:lnTo>
                <a:lnTo>
                  <a:pt x="2931365" y="43952"/>
                </a:lnTo>
                <a:lnTo>
                  <a:pt x="2954820" y="54276"/>
                </a:lnTo>
                <a:lnTo>
                  <a:pt x="3011470" y="108005"/>
                </a:lnTo>
                <a:lnTo>
                  <a:pt x="3015533" y="176274"/>
                </a:lnTo>
                <a:lnTo>
                  <a:pt x="3021704" y="250107"/>
                </a:lnTo>
                <a:lnTo>
                  <a:pt x="3043407" y="520908"/>
                </a:lnTo>
                <a:lnTo>
                  <a:pt x="3036614" y="837717"/>
                </a:lnTo>
                <a:lnTo>
                  <a:pt x="3027565" y="1108446"/>
                </a:lnTo>
                <a:lnTo>
                  <a:pt x="3032452" y="1407735"/>
                </a:lnTo>
                <a:lnTo>
                  <a:pt x="3010543" y="1690019"/>
                </a:lnTo>
                <a:lnTo>
                  <a:pt x="3022171" y="1772283"/>
                </a:lnTo>
                <a:lnTo>
                  <a:pt x="2988676" y="1814785"/>
                </a:lnTo>
                <a:lnTo>
                  <a:pt x="2968123" y="1853557"/>
                </a:lnTo>
                <a:lnTo>
                  <a:pt x="2907417" y="1918956"/>
                </a:lnTo>
                <a:lnTo>
                  <a:pt x="2869138" y="1908107"/>
                </a:lnTo>
                <a:lnTo>
                  <a:pt x="2786994" y="1912225"/>
                </a:lnTo>
                <a:lnTo>
                  <a:pt x="2268049" y="1923563"/>
                </a:lnTo>
                <a:lnTo>
                  <a:pt x="1781121" y="1933220"/>
                </a:lnTo>
                <a:lnTo>
                  <a:pt x="1259698" y="1917685"/>
                </a:lnTo>
                <a:lnTo>
                  <a:pt x="747987" y="1918091"/>
                </a:lnTo>
                <a:lnTo>
                  <a:pt x="255892" y="1928944"/>
                </a:lnTo>
                <a:lnTo>
                  <a:pt x="165666" y="1919652"/>
                </a:lnTo>
                <a:lnTo>
                  <a:pt x="120706" y="1886346"/>
                </a:lnTo>
                <a:lnTo>
                  <a:pt x="58576" y="1862486"/>
                </a:lnTo>
                <a:lnTo>
                  <a:pt x="31979" y="1826856"/>
                </a:lnTo>
                <a:lnTo>
                  <a:pt x="3864" y="1769125"/>
                </a:lnTo>
                <a:close/>
              </a:path>
            </a:pathLst>
          </a:custGeom>
          <a:solidFill>
            <a:srgbClr val="F7E9A0"/>
          </a:solidFill>
          <a:ln w="28575" cap="rnd">
            <a:solidFill>
              <a:srgbClr val="B08D2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464362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 spc="-30">
                <a:solidFill>
                  <a:srgbClr val="1B1B1B"/>
                </a:solidFill>
                <a:latin typeface="Archivo Black"/>
              </a:rPr>
              <a:t>MAKE SURE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498119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250" b="0" i="1">
                <a:solidFill>
                  <a:srgbClr val="1B1B1B"/>
                </a:solidFill>
                <a:latin typeface="Inter"/>
              </a:rPr>
              <a:t>prove the first piece is real</a:t>
            </a:r>
          </a:p>
        </p:txBody>
      </p:sp>
      <p:sp>
        <p:nvSpPr>
          <p:cNvPr id="10" name="Freeform 9"/>
          <p:cNvSpPr/>
          <p:nvPr/>
        </p:nvSpPr>
        <p:spPr>
          <a:xfrm>
            <a:off x="4172507" y="4875651"/>
            <a:ext cx="432870" cy="4631"/>
          </a:xfrm>
          <a:custGeom>
            <a:avLst/>
            <a:gdLst/>
            <a:ahLst/>
            <a:cxnLst/>
            <a:rect l="l" t="t" r="r" b="b"/>
            <a:pathLst>
              <a:path w="432870" h="4631">
                <a:moveTo>
                  <a:pt x="0" y="4631"/>
                </a:moveTo>
                <a:lnTo>
                  <a:pt x="152474" y="1031"/>
                </a:lnTo>
                <a:lnTo>
                  <a:pt x="288031" y="0"/>
                </a:lnTo>
                <a:lnTo>
                  <a:pt x="432870" y="2432"/>
                </a:lnTo>
              </a:path>
            </a:pathLst>
          </a:custGeom>
          <a:noFill/>
          <a:ln w="2857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480560" y="4827605"/>
            <a:ext cx="128016" cy="107533"/>
          </a:xfrm>
          <a:custGeom>
            <a:avLst/>
            <a:gdLst/>
            <a:ahLst/>
            <a:cxnLst/>
            <a:rect l="l" t="t" r="r" b="b"/>
            <a:pathLst>
              <a:path w="128016" h="107533">
                <a:moveTo>
                  <a:pt x="128016" y="53767"/>
                </a:moveTo>
                <a:lnTo>
                  <a:pt x="0" y="107533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255448" y="3908197"/>
            <a:ext cx="3034890" cy="1940728"/>
          </a:xfrm>
          <a:custGeom>
            <a:avLst/>
            <a:gdLst/>
            <a:ahLst/>
            <a:cxnLst/>
            <a:rect l="l" t="t" r="r" b="b"/>
            <a:pathLst>
              <a:path w="3034890" h="1940728">
                <a:moveTo>
                  <a:pt x="10765" y="1683181"/>
                </a:moveTo>
                <a:lnTo>
                  <a:pt x="19529" y="1387597"/>
                </a:lnTo>
                <a:lnTo>
                  <a:pt x="17130" y="1099498"/>
                </a:lnTo>
                <a:lnTo>
                  <a:pt x="19559" y="838160"/>
                </a:lnTo>
                <a:lnTo>
                  <a:pt x="11686" y="539949"/>
                </a:lnTo>
                <a:lnTo>
                  <a:pt x="0" y="255950"/>
                </a:lnTo>
                <a:lnTo>
                  <a:pt x="27841" y="181297"/>
                </a:lnTo>
                <a:lnTo>
                  <a:pt x="25780" y="120305"/>
                </a:lnTo>
                <a:lnTo>
                  <a:pt x="69107" y="59735"/>
                </a:lnTo>
                <a:lnTo>
                  <a:pt x="110298" y="29589"/>
                </a:lnTo>
                <a:lnTo>
                  <a:pt x="173713" y="0"/>
                </a:lnTo>
                <a:lnTo>
                  <a:pt x="241875" y="7645"/>
                </a:lnTo>
                <a:lnTo>
                  <a:pt x="749175" y="12484"/>
                </a:lnTo>
                <a:lnTo>
                  <a:pt x="1261137" y="5086"/>
                </a:lnTo>
                <a:lnTo>
                  <a:pt x="1775531" y="12390"/>
                </a:lnTo>
                <a:lnTo>
                  <a:pt x="2276191" y="6803"/>
                </a:lnTo>
                <a:lnTo>
                  <a:pt x="2781075" y="12524"/>
                </a:lnTo>
                <a:lnTo>
                  <a:pt x="2858480" y="14022"/>
                </a:lnTo>
                <a:lnTo>
                  <a:pt x="2941336" y="47504"/>
                </a:lnTo>
                <a:lnTo>
                  <a:pt x="2974019" y="77640"/>
                </a:lnTo>
                <a:lnTo>
                  <a:pt x="3010680" y="123347"/>
                </a:lnTo>
                <a:lnTo>
                  <a:pt x="3007166" y="172919"/>
                </a:lnTo>
                <a:lnTo>
                  <a:pt x="3013734" y="240930"/>
                </a:lnTo>
                <a:lnTo>
                  <a:pt x="3027772" y="552473"/>
                </a:lnTo>
                <a:lnTo>
                  <a:pt x="3034890" y="836942"/>
                </a:lnTo>
                <a:lnTo>
                  <a:pt x="3028210" y="1120213"/>
                </a:lnTo>
                <a:lnTo>
                  <a:pt x="3031499" y="1398195"/>
                </a:lnTo>
                <a:lnTo>
                  <a:pt x="3027575" y="1700403"/>
                </a:lnTo>
                <a:lnTo>
                  <a:pt x="3013815" y="1755683"/>
                </a:lnTo>
                <a:lnTo>
                  <a:pt x="3010094" y="1839816"/>
                </a:lnTo>
                <a:lnTo>
                  <a:pt x="2959217" y="1868765"/>
                </a:lnTo>
                <a:lnTo>
                  <a:pt x="2903144" y="1910864"/>
                </a:lnTo>
                <a:lnTo>
                  <a:pt x="2865136" y="1933184"/>
                </a:lnTo>
                <a:lnTo>
                  <a:pt x="2799377" y="1922363"/>
                </a:lnTo>
                <a:lnTo>
                  <a:pt x="2288174" y="1940728"/>
                </a:lnTo>
                <a:lnTo>
                  <a:pt x="1771660" y="1933983"/>
                </a:lnTo>
                <a:lnTo>
                  <a:pt x="1271958" y="1928839"/>
                </a:lnTo>
                <a:lnTo>
                  <a:pt x="761509" y="1930484"/>
                </a:lnTo>
                <a:lnTo>
                  <a:pt x="266048" y="1926527"/>
                </a:lnTo>
                <a:lnTo>
                  <a:pt x="172894" y="1922521"/>
                </a:lnTo>
                <a:lnTo>
                  <a:pt x="112360" y="1901766"/>
                </a:lnTo>
                <a:lnTo>
                  <a:pt x="80451" y="1893597"/>
                </a:lnTo>
                <a:lnTo>
                  <a:pt x="40286" y="1837877"/>
                </a:lnTo>
                <a:lnTo>
                  <a:pt x="14487" y="1777790"/>
                </a:lnTo>
                <a:close/>
              </a:path>
            </a:pathLst>
          </a:custGeom>
          <a:solidFill>
            <a:srgbClr val="B8E0A8"/>
          </a:solidFill>
          <a:ln w="28575" cap="rnd">
            <a:solidFill>
              <a:srgbClr val="4E8A3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464362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 spc="-30">
                <a:solidFill>
                  <a:srgbClr val="1B1B1B"/>
                </a:solidFill>
                <a:latin typeface="Archivo Black"/>
              </a:rPr>
              <a:t>BUILD ON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498119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250" b="0" i="1">
                <a:solidFill>
                  <a:srgbClr val="1B1B1B"/>
                </a:solidFill>
                <a:latin typeface="Inter"/>
              </a:rPr>
              <a:t>then add the next feature</a:t>
            </a:r>
          </a:p>
        </p:txBody>
      </p:sp>
      <p:sp>
        <p:nvSpPr>
          <p:cNvPr id="15" name="Freeform 14"/>
          <p:cNvSpPr/>
          <p:nvPr/>
        </p:nvSpPr>
        <p:spPr>
          <a:xfrm>
            <a:off x="7754617" y="4874249"/>
            <a:ext cx="434790" cy="13216"/>
          </a:xfrm>
          <a:custGeom>
            <a:avLst/>
            <a:gdLst/>
            <a:ahLst/>
            <a:cxnLst/>
            <a:rect l="l" t="t" r="r" b="b"/>
            <a:pathLst>
              <a:path w="434790" h="13216">
                <a:moveTo>
                  <a:pt x="0" y="6384"/>
                </a:moveTo>
                <a:lnTo>
                  <a:pt x="148132" y="13216"/>
                </a:lnTo>
                <a:lnTo>
                  <a:pt x="297422" y="12242"/>
                </a:lnTo>
                <a:lnTo>
                  <a:pt x="434790" y="0"/>
                </a:lnTo>
              </a:path>
            </a:pathLst>
          </a:custGeom>
          <a:noFill/>
          <a:ln w="2857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065007" y="4827605"/>
            <a:ext cx="128016" cy="107533"/>
          </a:xfrm>
          <a:custGeom>
            <a:avLst/>
            <a:gdLst/>
            <a:ahLst/>
            <a:cxnLst/>
            <a:rect l="l" t="t" r="r" b="b"/>
            <a:pathLst>
              <a:path w="128016" h="107533">
                <a:moveTo>
                  <a:pt x="128016" y="53767"/>
                </a:moveTo>
                <a:lnTo>
                  <a:pt x="0" y="107533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1338560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400" b="0" i="0" spc="-140">
                <a:solidFill>
                  <a:srgbClr val="14110F"/>
                </a:solidFill>
                <a:latin typeface="Archivo Black"/>
              </a:rPr>
              <a:t>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11095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3A342E"/>
                </a:solidFill>
                <a:latin typeface="Inter"/>
              </a:rPr>
              <a:t>the restaurant analogy — four core pieces, and a way for them to talk.</a:t>
            </a:r>
          </a:p>
        </p:txBody>
      </p:sp>
      <p:sp>
        <p:nvSpPr>
          <p:cNvPr id="4" name="Freeform 3"/>
          <p:cNvSpPr/>
          <p:nvPr/>
        </p:nvSpPr>
        <p:spPr>
          <a:xfrm>
            <a:off x="813199" y="3039913"/>
            <a:ext cx="3270836" cy="1293307"/>
          </a:xfrm>
          <a:custGeom>
            <a:avLst/>
            <a:gdLst/>
            <a:ahLst/>
            <a:cxnLst/>
            <a:rect l="l" t="t" r="r" b="b"/>
            <a:pathLst>
              <a:path w="3270836" h="1293307">
                <a:moveTo>
                  <a:pt x="19156" y="1053891"/>
                </a:moveTo>
                <a:lnTo>
                  <a:pt x="0" y="881421"/>
                </a:lnTo>
                <a:lnTo>
                  <a:pt x="8028" y="731927"/>
                </a:lnTo>
                <a:lnTo>
                  <a:pt x="25767" y="576107"/>
                </a:lnTo>
                <a:lnTo>
                  <a:pt x="5262" y="399091"/>
                </a:lnTo>
                <a:lnTo>
                  <a:pt x="12394" y="254832"/>
                </a:lnTo>
                <a:lnTo>
                  <a:pt x="20050" y="165186"/>
                </a:lnTo>
                <a:lnTo>
                  <a:pt x="44556" y="121729"/>
                </a:lnTo>
                <a:lnTo>
                  <a:pt x="61444" y="58533"/>
                </a:lnTo>
                <a:lnTo>
                  <a:pt x="116890" y="25821"/>
                </a:lnTo>
                <a:lnTo>
                  <a:pt x="184260" y="18532"/>
                </a:lnTo>
                <a:lnTo>
                  <a:pt x="266719" y="0"/>
                </a:lnTo>
                <a:lnTo>
                  <a:pt x="808736" y="21261"/>
                </a:lnTo>
                <a:lnTo>
                  <a:pt x="1354846" y="10136"/>
                </a:lnTo>
                <a:lnTo>
                  <a:pt x="1902550" y="15780"/>
                </a:lnTo>
                <a:lnTo>
                  <a:pt x="2451664" y="12708"/>
                </a:lnTo>
                <a:lnTo>
                  <a:pt x="3018109" y="12432"/>
                </a:lnTo>
                <a:lnTo>
                  <a:pt x="3095564" y="17893"/>
                </a:lnTo>
                <a:lnTo>
                  <a:pt x="3165869" y="31476"/>
                </a:lnTo>
                <a:lnTo>
                  <a:pt x="3198554" y="71751"/>
                </a:lnTo>
                <a:lnTo>
                  <a:pt x="3215920" y="113634"/>
                </a:lnTo>
                <a:lnTo>
                  <a:pt x="3245074" y="176248"/>
                </a:lnTo>
                <a:lnTo>
                  <a:pt x="3250863" y="248477"/>
                </a:lnTo>
                <a:lnTo>
                  <a:pt x="3253297" y="388017"/>
                </a:lnTo>
                <a:lnTo>
                  <a:pt x="3264130" y="568557"/>
                </a:lnTo>
                <a:lnTo>
                  <a:pt x="3248904" y="733682"/>
                </a:lnTo>
                <a:lnTo>
                  <a:pt x="3252483" y="875568"/>
                </a:lnTo>
                <a:lnTo>
                  <a:pt x="3270836" y="1048411"/>
                </a:lnTo>
                <a:lnTo>
                  <a:pt x="3260831" y="1125522"/>
                </a:lnTo>
                <a:lnTo>
                  <a:pt x="3229675" y="1188995"/>
                </a:lnTo>
                <a:lnTo>
                  <a:pt x="3190752" y="1219511"/>
                </a:lnTo>
                <a:lnTo>
                  <a:pt x="3134829" y="1275104"/>
                </a:lnTo>
                <a:lnTo>
                  <a:pt x="3078047" y="1287531"/>
                </a:lnTo>
                <a:lnTo>
                  <a:pt x="3034476" y="1293307"/>
                </a:lnTo>
                <a:lnTo>
                  <a:pt x="2451744" y="1277145"/>
                </a:lnTo>
                <a:lnTo>
                  <a:pt x="1905642" y="1278018"/>
                </a:lnTo>
                <a:lnTo>
                  <a:pt x="1357163" y="1282041"/>
                </a:lnTo>
                <a:lnTo>
                  <a:pt x="807358" y="1277781"/>
                </a:lnTo>
                <a:lnTo>
                  <a:pt x="258013" y="1288612"/>
                </a:lnTo>
                <a:lnTo>
                  <a:pt x="168842" y="1282255"/>
                </a:lnTo>
                <a:lnTo>
                  <a:pt x="112956" y="1263567"/>
                </a:lnTo>
                <a:lnTo>
                  <a:pt x="82589" y="1218990"/>
                </a:lnTo>
                <a:lnTo>
                  <a:pt x="49400" y="1177141"/>
                </a:lnTo>
                <a:lnTo>
                  <a:pt x="25146" y="1130128"/>
                </a:lnTo>
                <a:close/>
              </a:path>
            </a:pathLst>
          </a:custGeom>
          <a:solidFill>
            <a:srgbClr val="A9D3EE"/>
          </a:solidFill>
          <a:ln w="28575" cap="rnd">
            <a:solidFill>
              <a:srgbClr val="2E6E9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451352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 spc="-30">
                <a:solidFill>
                  <a:srgbClr val="1B1B1B"/>
                </a:solidFill>
                <a:latin typeface="Archivo Black"/>
              </a:rPr>
              <a:t>FRONT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891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250" b="0" i="1">
                <a:solidFill>
                  <a:srgbClr val="1B1B1B"/>
                </a:solidFill>
                <a:latin typeface="Inter"/>
              </a:rPr>
              <a:t>the dining area</a:t>
            </a:r>
          </a:p>
        </p:txBody>
      </p:sp>
      <p:sp>
        <p:nvSpPr>
          <p:cNvPr id="7" name="Freeform 6"/>
          <p:cNvSpPr/>
          <p:nvPr/>
        </p:nvSpPr>
        <p:spPr>
          <a:xfrm>
            <a:off x="9018666" y="2826090"/>
            <a:ext cx="2277337" cy="1743387"/>
          </a:xfrm>
          <a:custGeom>
            <a:avLst/>
            <a:gdLst/>
            <a:ahLst/>
            <a:cxnLst/>
            <a:rect l="l" t="t" r="r" b="b"/>
            <a:pathLst>
              <a:path w="2277337" h="1743387">
                <a:moveTo>
                  <a:pt x="90021" y="754972"/>
                </a:moveTo>
                <a:lnTo>
                  <a:pt x="238917" y="626973"/>
                </a:lnTo>
                <a:lnTo>
                  <a:pt x="368300" y="495521"/>
                </a:lnTo>
                <a:lnTo>
                  <a:pt x="532108" y="413794"/>
                </a:lnTo>
                <a:lnTo>
                  <a:pt x="679409" y="269238"/>
                </a:lnTo>
                <a:lnTo>
                  <a:pt x="821244" y="159618"/>
                </a:lnTo>
                <a:lnTo>
                  <a:pt x="975523" y="51266"/>
                </a:lnTo>
                <a:lnTo>
                  <a:pt x="1030430" y="25074"/>
                </a:lnTo>
                <a:lnTo>
                  <a:pt x="1088054" y="15283"/>
                </a:lnTo>
                <a:lnTo>
                  <a:pt x="1141444" y="0"/>
                </a:lnTo>
                <a:lnTo>
                  <a:pt x="1180309" y="5334"/>
                </a:lnTo>
                <a:lnTo>
                  <a:pt x="1252021" y="17093"/>
                </a:lnTo>
                <a:lnTo>
                  <a:pt x="1288811" y="62869"/>
                </a:lnTo>
                <a:lnTo>
                  <a:pt x="1450261" y="162792"/>
                </a:lnTo>
                <a:lnTo>
                  <a:pt x="1596409" y="271319"/>
                </a:lnTo>
                <a:lnTo>
                  <a:pt x="1740831" y="406220"/>
                </a:lnTo>
                <a:lnTo>
                  <a:pt x="1898299" y="495041"/>
                </a:lnTo>
                <a:lnTo>
                  <a:pt x="2026679" y="628716"/>
                </a:lnTo>
                <a:lnTo>
                  <a:pt x="2171924" y="736680"/>
                </a:lnTo>
                <a:lnTo>
                  <a:pt x="2238923" y="773013"/>
                </a:lnTo>
                <a:lnTo>
                  <a:pt x="2252104" y="829388"/>
                </a:lnTo>
                <a:lnTo>
                  <a:pt x="2277337" y="881804"/>
                </a:lnTo>
                <a:lnTo>
                  <a:pt x="2247952" y="915814"/>
                </a:lnTo>
                <a:lnTo>
                  <a:pt x="2242632" y="939390"/>
                </a:lnTo>
                <a:lnTo>
                  <a:pt x="2185589" y="997080"/>
                </a:lnTo>
                <a:lnTo>
                  <a:pt x="2036949" y="1086040"/>
                </a:lnTo>
                <a:lnTo>
                  <a:pt x="1903264" y="1216164"/>
                </a:lnTo>
                <a:lnTo>
                  <a:pt x="1734761" y="1326833"/>
                </a:lnTo>
                <a:lnTo>
                  <a:pt x="1581307" y="1440116"/>
                </a:lnTo>
                <a:lnTo>
                  <a:pt x="1441671" y="1575294"/>
                </a:lnTo>
                <a:lnTo>
                  <a:pt x="1307573" y="1672530"/>
                </a:lnTo>
                <a:lnTo>
                  <a:pt x="1244510" y="1713542"/>
                </a:lnTo>
                <a:lnTo>
                  <a:pt x="1206758" y="1731514"/>
                </a:lnTo>
                <a:lnTo>
                  <a:pt x="1129768" y="1728478"/>
                </a:lnTo>
                <a:lnTo>
                  <a:pt x="1076974" y="1743387"/>
                </a:lnTo>
                <a:lnTo>
                  <a:pt x="1036467" y="1700876"/>
                </a:lnTo>
                <a:lnTo>
                  <a:pt x="980750" y="1664440"/>
                </a:lnTo>
                <a:lnTo>
                  <a:pt x="826261" y="1568368"/>
                </a:lnTo>
                <a:lnTo>
                  <a:pt x="668751" y="1445172"/>
                </a:lnTo>
                <a:lnTo>
                  <a:pt x="541832" y="1317840"/>
                </a:lnTo>
                <a:lnTo>
                  <a:pt x="381640" y="1211785"/>
                </a:lnTo>
                <a:lnTo>
                  <a:pt x="242365" y="1099528"/>
                </a:lnTo>
                <a:lnTo>
                  <a:pt x="90185" y="999101"/>
                </a:lnTo>
                <a:lnTo>
                  <a:pt x="32956" y="938198"/>
                </a:lnTo>
                <a:lnTo>
                  <a:pt x="0" y="906642"/>
                </a:lnTo>
                <a:lnTo>
                  <a:pt x="4437" y="856990"/>
                </a:lnTo>
                <a:lnTo>
                  <a:pt x="29106" y="811509"/>
                </a:lnTo>
                <a:lnTo>
                  <a:pt x="34296" y="774656"/>
                </a:lnTo>
                <a:close/>
              </a:path>
            </a:pathLst>
          </a:custGeom>
          <a:solidFill>
            <a:srgbClr val="F0B3C2"/>
          </a:solidFill>
          <a:ln w="28575" cap="rnd">
            <a:solidFill>
              <a:srgbClr val="B4576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7463" y="3451352"/>
            <a:ext cx="14538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 spc="-30">
                <a:solidFill>
                  <a:srgbClr val="1B1B1B"/>
                </a:solidFill>
                <a:latin typeface="Archivo Black"/>
              </a:rPr>
              <a:t>BACK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7463" y="3763010"/>
            <a:ext cx="1453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200" b="0" i="1">
                <a:solidFill>
                  <a:srgbClr val="1B1B1B"/>
                </a:solidFill>
                <a:latin typeface="Inter"/>
              </a:rPr>
              <a:t>the kitchen</a:t>
            </a:r>
          </a:p>
        </p:txBody>
      </p:sp>
      <p:sp>
        <p:nvSpPr>
          <p:cNvPr id="10" name="Freeform 9"/>
          <p:cNvSpPr/>
          <p:nvPr/>
        </p:nvSpPr>
        <p:spPr>
          <a:xfrm>
            <a:off x="4129413" y="3682531"/>
            <a:ext cx="4755888" cy="10963"/>
          </a:xfrm>
          <a:custGeom>
            <a:avLst/>
            <a:gdLst/>
            <a:ahLst/>
            <a:cxnLst/>
            <a:rect l="l" t="t" r="r" b="b"/>
            <a:pathLst>
              <a:path w="4755888" h="10963">
                <a:moveTo>
                  <a:pt x="0" y="3873"/>
                </a:moveTo>
                <a:lnTo>
                  <a:pt x="1616301" y="8020"/>
                </a:lnTo>
                <a:lnTo>
                  <a:pt x="3184882" y="10963"/>
                </a:lnTo>
                <a:lnTo>
                  <a:pt x="4755888" y="0"/>
                </a:lnTo>
              </a:path>
            </a:pathLst>
          </a:custGeom>
          <a:noFill/>
          <a:ln w="2857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8750808" y="3631488"/>
            <a:ext cx="137160" cy="115215"/>
          </a:xfrm>
          <a:custGeom>
            <a:avLst/>
            <a:gdLst/>
            <a:ahLst/>
            <a:cxnLst/>
            <a:rect l="l" t="t" r="r" b="b"/>
            <a:pathLst>
              <a:path w="137160" h="115215">
                <a:moveTo>
                  <a:pt x="137160" y="57608"/>
                </a:moveTo>
                <a:lnTo>
                  <a:pt x="0" y="115215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133088" y="3631488"/>
            <a:ext cx="137160" cy="115215"/>
          </a:xfrm>
          <a:custGeom>
            <a:avLst/>
            <a:gdLst/>
            <a:ahLst/>
            <a:cxnLst/>
            <a:rect l="l" t="t" r="r" b="b"/>
            <a:pathLst>
              <a:path w="137160" h="115215">
                <a:moveTo>
                  <a:pt x="0" y="57608"/>
                </a:moveTo>
                <a:lnTo>
                  <a:pt x="137160" y="115215"/>
                </a:lnTo>
                <a:lnTo>
                  <a:pt x="137160" y="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312216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0" i="0" spc="-40">
                <a:solidFill>
                  <a:srgbClr val="14110F"/>
                </a:solidFill>
                <a:latin typeface="Archivo Black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79882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E655C"/>
                </a:solidFill>
                <a:latin typeface="Inter"/>
              </a:rPr>
              <a:t>the waiter</a:t>
            </a:r>
          </a:p>
        </p:txBody>
      </p:sp>
      <p:sp>
        <p:nvSpPr>
          <p:cNvPr id="15" name="Freeform 14"/>
          <p:cNvSpPr/>
          <p:nvPr/>
        </p:nvSpPr>
        <p:spPr>
          <a:xfrm>
            <a:off x="815552" y="4680628"/>
            <a:ext cx="5140647" cy="1312659"/>
          </a:xfrm>
          <a:custGeom>
            <a:avLst/>
            <a:gdLst/>
            <a:ahLst/>
            <a:cxnLst/>
            <a:rect l="l" t="t" r="r" b="b"/>
            <a:pathLst>
              <a:path w="5140647" h="1312659">
                <a:moveTo>
                  <a:pt x="14030" y="1059003"/>
                </a:moveTo>
                <a:lnTo>
                  <a:pt x="9271" y="898471"/>
                </a:lnTo>
                <a:lnTo>
                  <a:pt x="35" y="726294"/>
                </a:lnTo>
                <a:lnTo>
                  <a:pt x="16770" y="576524"/>
                </a:lnTo>
                <a:lnTo>
                  <a:pt x="13536" y="407032"/>
                </a:lnTo>
                <a:lnTo>
                  <a:pt x="0" y="262606"/>
                </a:lnTo>
                <a:lnTo>
                  <a:pt x="11312" y="171476"/>
                </a:lnTo>
                <a:lnTo>
                  <a:pt x="47653" y="106704"/>
                </a:lnTo>
                <a:lnTo>
                  <a:pt x="58494" y="75223"/>
                </a:lnTo>
                <a:lnTo>
                  <a:pt x="110712" y="51479"/>
                </a:lnTo>
                <a:lnTo>
                  <a:pt x="179846" y="12223"/>
                </a:lnTo>
                <a:lnTo>
                  <a:pt x="237675" y="13387"/>
                </a:lnTo>
                <a:lnTo>
                  <a:pt x="1187728" y="5180"/>
                </a:lnTo>
                <a:lnTo>
                  <a:pt x="2106983" y="0"/>
                </a:lnTo>
                <a:lnTo>
                  <a:pt x="3028393" y="8202"/>
                </a:lnTo>
                <a:lnTo>
                  <a:pt x="3953286" y="7603"/>
                </a:lnTo>
                <a:lnTo>
                  <a:pt x="4899423" y="10872"/>
                </a:lnTo>
                <a:lnTo>
                  <a:pt x="4957397" y="23821"/>
                </a:lnTo>
                <a:lnTo>
                  <a:pt x="5024368" y="45210"/>
                </a:lnTo>
                <a:lnTo>
                  <a:pt x="5073208" y="76759"/>
                </a:lnTo>
                <a:lnTo>
                  <a:pt x="5096160" y="130321"/>
                </a:lnTo>
                <a:lnTo>
                  <a:pt x="5112812" y="182150"/>
                </a:lnTo>
                <a:lnTo>
                  <a:pt x="5124601" y="249556"/>
                </a:lnTo>
                <a:lnTo>
                  <a:pt x="5129037" y="414945"/>
                </a:lnTo>
                <a:lnTo>
                  <a:pt x="5140647" y="561476"/>
                </a:lnTo>
                <a:lnTo>
                  <a:pt x="5119851" y="728587"/>
                </a:lnTo>
                <a:lnTo>
                  <a:pt x="5123603" y="897285"/>
                </a:lnTo>
                <a:lnTo>
                  <a:pt x="5119652" y="1050474"/>
                </a:lnTo>
                <a:lnTo>
                  <a:pt x="5114191" y="1126324"/>
                </a:lnTo>
                <a:lnTo>
                  <a:pt x="5099544" y="1197308"/>
                </a:lnTo>
                <a:lnTo>
                  <a:pt x="5085097" y="1239312"/>
                </a:lnTo>
                <a:lnTo>
                  <a:pt x="5038889" y="1261956"/>
                </a:lnTo>
                <a:lnTo>
                  <a:pt x="4966879" y="1293175"/>
                </a:lnTo>
                <a:lnTo>
                  <a:pt x="4903440" y="1312659"/>
                </a:lnTo>
                <a:lnTo>
                  <a:pt x="3968184" y="1309883"/>
                </a:lnTo>
                <a:lnTo>
                  <a:pt x="3042798" y="1289936"/>
                </a:lnTo>
                <a:lnTo>
                  <a:pt x="2096735" y="1284309"/>
                </a:lnTo>
                <a:lnTo>
                  <a:pt x="1177023" y="1283849"/>
                </a:lnTo>
                <a:lnTo>
                  <a:pt x="248601" y="1300476"/>
                </a:lnTo>
                <a:lnTo>
                  <a:pt x="183982" y="1298165"/>
                </a:lnTo>
                <a:lnTo>
                  <a:pt x="108201" y="1264885"/>
                </a:lnTo>
                <a:lnTo>
                  <a:pt x="65328" y="1222574"/>
                </a:lnTo>
                <a:lnTo>
                  <a:pt x="36403" y="1199805"/>
                </a:lnTo>
                <a:lnTo>
                  <a:pt x="13313" y="1133065"/>
                </a:lnTo>
                <a:close/>
              </a:path>
            </a:pathLst>
          </a:custGeom>
          <a:solidFill>
            <a:srgbClr val="B8E0A8"/>
          </a:solidFill>
          <a:ln w="28575" cap="rnd">
            <a:solidFill>
              <a:srgbClr val="4E8A3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097272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 spc="-30">
                <a:solidFill>
                  <a:srgbClr val="1B1B1B"/>
                </a:solidFill>
                <a:latin typeface="Archivo Black"/>
              </a:rPr>
              <a:t>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3483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250" b="0" i="1">
                <a:solidFill>
                  <a:srgbClr val="1B1B1B"/>
                </a:solidFill>
                <a:latin typeface="Inter"/>
              </a:rPr>
              <a:t>the reservation desk — it makes sure you are allowed in</a:t>
            </a:r>
          </a:p>
        </p:txBody>
      </p:sp>
      <p:sp>
        <p:nvSpPr>
          <p:cNvPr id="18" name="Freeform 17"/>
          <p:cNvSpPr/>
          <p:nvPr/>
        </p:nvSpPr>
        <p:spPr>
          <a:xfrm>
            <a:off x="6241155" y="4680907"/>
            <a:ext cx="5136727" cy="1304267"/>
          </a:xfrm>
          <a:custGeom>
            <a:avLst/>
            <a:gdLst/>
            <a:ahLst/>
            <a:cxnLst/>
            <a:rect l="l" t="t" r="r" b="b"/>
            <a:pathLst>
              <a:path w="5136727" h="1304267">
                <a:moveTo>
                  <a:pt x="2692" y="1058459"/>
                </a:moveTo>
                <a:lnTo>
                  <a:pt x="12734" y="908172"/>
                </a:lnTo>
                <a:lnTo>
                  <a:pt x="20052" y="733617"/>
                </a:lnTo>
                <a:lnTo>
                  <a:pt x="27140" y="581443"/>
                </a:lnTo>
                <a:lnTo>
                  <a:pt x="0" y="408417"/>
                </a:lnTo>
                <a:lnTo>
                  <a:pt x="2325" y="248838"/>
                </a:lnTo>
                <a:lnTo>
                  <a:pt x="18776" y="171224"/>
                </a:lnTo>
                <a:lnTo>
                  <a:pt x="46134" y="123094"/>
                </a:lnTo>
                <a:lnTo>
                  <a:pt x="54640" y="86512"/>
                </a:lnTo>
                <a:lnTo>
                  <a:pt x="118813" y="47920"/>
                </a:lnTo>
                <a:lnTo>
                  <a:pt x="171378" y="21079"/>
                </a:lnTo>
                <a:lnTo>
                  <a:pt x="245628" y="8272"/>
                </a:lnTo>
                <a:lnTo>
                  <a:pt x="1165392" y="19048"/>
                </a:lnTo>
                <a:lnTo>
                  <a:pt x="2100892" y="0"/>
                </a:lnTo>
                <a:lnTo>
                  <a:pt x="3024696" y="8934"/>
                </a:lnTo>
                <a:lnTo>
                  <a:pt x="3952130" y="17447"/>
                </a:lnTo>
                <a:lnTo>
                  <a:pt x="4880552" y="13053"/>
                </a:lnTo>
                <a:lnTo>
                  <a:pt x="4966064" y="11710"/>
                </a:lnTo>
                <a:lnTo>
                  <a:pt x="5009094" y="42145"/>
                </a:lnTo>
                <a:lnTo>
                  <a:pt x="5050216" y="82606"/>
                </a:lnTo>
                <a:lnTo>
                  <a:pt x="5080828" y="116048"/>
                </a:lnTo>
                <a:lnTo>
                  <a:pt x="5112348" y="190856"/>
                </a:lnTo>
                <a:lnTo>
                  <a:pt x="5136727" y="256511"/>
                </a:lnTo>
                <a:lnTo>
                  <a:pt x="5113349" y="418889"/>
                </a:lnTo>
                <a:lnTo>
                  <a:pt x="5130083" y="576705"/>
                </a:lnTo>
                <a:lnTo>
                  <a:pt x="5128191" y="742010"/>
                </a:lnTo>
                <a:lnTo>
                  <a:pt x="5112830" y="911092"/>
                </a:lnTo>
                <a:lnTo>
                  <a:pt x="5123634" y="1047654"/>
                </a:lnTo>
                <a:lnTo>
                  <a:pt x="5125149" y="1114097"/>
                </a:lnTo>
                <a:lnTo>
                  <a:pt x="5112869" y="1198868"/>
                </a:lnTo>
                <a:lnTo>
                  <a:pt x="5070505" y="1236502"/>
                </a:lnTo>
                <a:lnTo>
                  <a:pt x="5020999" y="1267624"/>
                </a:lnTo>
                <a:lnTo>
                  <a:pt x="4948268" y="1283499"/>
                </a:lnTo>
                <a:lnTo>
                  <a:pt x="4877503" y="1303600"/>
                </a:lnTo>
                <a:lnTo>
                  <a:pt x="3956826" y="1280868"/>
                </a:lnTo>
                <a:lnTo>
                  <a:pt x="3043823" y="1301891"/>
                </a:lnTo>
                <a:lnTo>
                  <a:pt x="2097866" y="1304267"/>
                </a:lnTo>
                <a:lnTo>
                  <a:pt x="1178069" y="1290162"/>
                </a:lnTo>
                <a:lnTo>
                  <a:pt x="254524" y="1278269"/>
                </a:lnTo>
                <a:lnTo>
                  <a:pt x="194705" y="1300204"/>
                </a:lnTo>
                <a:lnTo>
                  <a:pt x="115426" y="1255110"/>
                </a:lnTo>
                <a:lnTo>
                  <a:pt x="82949" y="1238778"/>
                </a:lnTo>
                <a:lnTo>
                  <a:pt x="40550" y="1188203"/>
                </a:lnTo>
                <a:lnTo>
                  <a:pt x="26235" y="1131352"/>
                </a:lnTo>
                <a:close/>
              </a:path>
            </a:pathLst>
          </a:custGeom>
          <a:solidFill>
            <a:srgbClr val="F7E9A0"/>
          </a:solidFill>
          <a:ln w="28575" cap="rnd">
            <a:solidFill>
              <a:srgbClr val="B08D2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5097272"/>
            <a:ext cx="5111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 spc="-30">
                <a:solidFill>
                  <a:srgbClr val="1B1B1B"/>
                </a:solidFill>
                <a:latin typeface="Archivo Black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5434838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250" b="0" i="1">
                <a:solidFill>
                  <a:srgbClr val="1B1B1B"/>
                </a:solidFill>
                <a:latin typeface="Inter"/>
              </a:rPr>
              <a:t>the pantry — where the ingredients are stored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20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8000" b="0" i="0" spc="-140">
                <a:solidFill>
                  <a:srgbClr val="14110F"/>
                </a:solidFill>
                <a:latin typeface="Archivo Black"/>
              </a:rPr>
              <a:t>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23439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 spc="220">
                <a:solidFill>
                  <a:srgbClr val="A99E93"/>
                </a:solidFill>
                <a:latin typeface="Inter"/>
              </a:rPr>
              <a:t>APPLICATION PROGRAMMING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98928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300" b="0" i="0">
                <a:solidFill>
                  <a:srgbClr val="3A342E"/>
                </a:solidFill>
                <a:latin typeface="Inter"/>
              </a:rPr>
              <a:t>a way we can get, receive or give information in two places online — or two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84092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 i="0">
                <a:solidFill>
                  <a:srgbClr val="1B1B1B"/>
                </a:solidFill>
                <a:latin typeface="Inter"/>
              </a:rPr>
              <a:t>Waiter</a:t>
            </a:r>
          </a:p>
        </p:txBody>
      </p:sp>
      <p:sp>
        <p:nvSpPr>
          <p:cNvPr id="6" name="Freeform 5"/>
          <p:cNvSpPr/>
          <p:nvPr/>
        </p:nvSpPr>
        <p:spPr>
          <a:xfrm>
            <a:off x="1163816" y="4323445"/>
            <a:ext cx="3264483" cy="1326183"/>
          </a:xfrm>
          <a:custGeom>
            <a:avLst/>
            <a:gdLst/>
            <a:ahLst/>
            <a:cxnLst/>
            <a:rect l="l" t="t" r="r" b="b"/>
            <a:pathLst>
              <a:path w="3264483" h="1326183">
                <a:moveTo>
                  <a:pt x="6510" y="1059435"/>
                </a:moveTo>
                <a:lnTo>
                  <a:pt x="16509" y="911071"/>
                </a:lnTo>
                <a:lnTo>
                  <a:pt x="13262" y="747569"/>
                </a:lnTo>
                <a:lnTo>
                  <a:pt x="24844" y="582510"/>
                </a:lnTo>
                <a:lnTo>
                  <a:pt x="0" y="418960"/>
                </a:lnTo>
                <a:lnTo>
                  <a:pt x="551" y="250243"/>
                </a:lnTo>
                <a:lnTo>
                  <a:pt x="14947" y="182868"/>
                </a:lnTo>
                <a:lnTo>
                  <a:pt x="32896" y="110690"/>
                </a:lnTo>
                <a:lnTo>
                  <a:pt x="53464" y="56304"/>
                </a:lnTo>
                <a:lnTo>
                  <a:pt x="111652" y="35216"/>
                </a:lnTo>
                <a:lnTo>
                  <a:pt x="169831" y="27964"/>
                </a:lnTo>
                <a:lnTo>
                  <a:pt x="231345" y="24268"/>
                </a:lnTo>
                <a:lnTo>
                  <a:pt x="814119" y="0"/>
                </a:lnTo>
                <a:lnTo>
                  <a:pt x="1364306" y="7242"/>
                </a:lnTo>
                <a:lnTo>
                  <a:pt x="1899433" y="10815"/>
                </a:lnTo>
                <a:lnTo>
                  <a:pt x="2447064" y="26210"/>
                </a:lnTo>
                <a:lnTo>
                  <a:pt x="3006591" y="5549"/>
                </a:lnTo>
                <a:lnTo>
                  <a:pt x="3101015" y="33706"/>
                </a:lnTo>
                <a:lnTo>
                  <a:pt x="3133270" y="20306"/>
                </a:lnTo>
                <a:lnTo>
                  <a:pt x="3189412" y="79203"/>
                </a:lnTo>
                <a:lnTo>
                  <a:pt x="3214769" y="132284"/>
                </a:lnTo>
                <a:lnTo>
                  <a:pt x="3249388" y="169002"/>
                </a:lnTo>
                <a:lnTo>
                  <a:pt x="3264483" y="264810"/>
                </a:lnTo>
                <a:lnTo>
                  <a:pt x="3246834" y="420072"/>
                </a:lnTo>
                <a:lnTo>
                  <a:pt x="3249827" y="586803"/>
                </a:lnTo>
                <a:lnTo>
                  <a:pt x="3242377" y="739889"/>
                </a:lnTo>
                <a:lnTo>
                  <a:pt x="3249785" y="898282"/>
                </a:lnTo>
                <a:lnTo>
                  <a:pt x="3247027" y="1070018"/>
                </a:lnTo>
                <a:lnTo>
                  <a:pt x="3244896" y="1145950"/>
                </a:lnTo>
                <a:lnTo>
                  <a:pt x="3230619" y="1195576"/>
                </a:lnTo>
                <a:lnTo>
                  <a:pt x="3192894" y="1234398"/>
                </a:lnTo>
                <a:lnTo>
                  <a:pt x="3132935" y="1277897"/>
                </a:lnTo>
                <a:lnTo>
                  <a:pt x="3089068" y="1307615"/>
                </a:lnTo>
                <a:lnTo>
                  <a:pt x="3017057" y="1326183"/>
                </a:lnTo>
                <a:lnTo>
                  <a:pt x="2447949" y="1306319"/>
                </a:lnTo>
                <a:lnTo>
                  <a:pt x="1919382" y="1289622"/>
                </a:lnTo>
                <a:lnTo>
                  <a:pt x="1342445" y="1303194"/>
                </a:lnTo>
                <a:lnTo>
                  <a:pt x="807653" y="1302237"/>
                </a:lnTo>
                <a:lnTo>
                  <a:pt x="263689" y="1318155"/>
                </a:lnTo>
                <a:lnTo>
                  <a:pt x="159201" y="1300270"/>
                </a:lnTo>
                <a:lnTo>
                  <a:pt x="120110" y="1270261"/>
                </a:lnTo>
                <a:lnTo>
                  <a:pt x="62417" y="1253239"/>
                </a:lnTo>
                <a:lnTo>
                  <a:pt x="49618" y="1192880"/>
                </a:lnTo>
                <a:lnTo>
                  <a:pt x="16489" y="1144079"/>
                </a:lnTo>
                <a:close/>
              </a:path>
            </a:pathLst>
          </a:custGeom>
          <a:solidFill>
            <a:srgbClr val="A9D3EE"/>
          </a:solidFill>
          <a:ln w="28575" cap="rnd">
            <a:solidFill>
              <a:srgbClr val="2E6E9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4745736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spc="-30">
                <a:solidFill>
                  <a:srgbClr val="1B1B1B"/>
                </a:solidFill>
                <a:latin typeface="Archivo Black"/>
              </a:rPr>
              <a:t>FRONT-END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509625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250" b="0" i="1">
                <a:solidFill>
                  <a:srgbClr val="1B1B1B"/>
                </a:solidFill>
                <a:latin typeface="Inter"/>
              </a:rPr>
              <a:t>“Dining Experience”</a:t>
            </a:r>
          </a:p>
        </p:txBody>
      </p:sp>
      <p:sp>
        <p:nvSpPr>
          <p:cNvPr id="9" name="Freeform 8"/>
          <p:cNvSpPr/>
          <p:nvPr/>
        </p:nvSpPr>
        <p:spPr>
          <a:xfrm>
            <a:off x="8372638" y="4085778"/>
            <a:ext cx="2492556" cy="1807520"/>
          </a:xfrm>
          <a:custGeom>
            <a:avLst/>
            <a:gdLst/>
            <a:ahLst/>
            <a:cxnLst/>
            <a:rect l="l" t="t" r="r" b="b"/>
            <a:pathLst>
              <a:path w="2492556" h="1807520">
                <a:moveTo>
                  <a:pt x="77041" y="783362"/>
                </a:moveTo>
                <a:lnTo>
                  <a:pt x="258011" y="647478"/>
                </a:lnTo>
                <a:lnTo>
                  <a:pt x="411093" y="544248"/>
                </a:lnTo>
                <a:lnTo>
                  <a:pt x="592923" y="407024"/>
                </a:lnTo>
                <a:lnTo>
                  <a:pt x="738544" y="299655"/>
                </a:lnTo>
                <a:lnTo>
                  <a:pt x="914944" y="176438"/>
                </a:lnTo>
                <a:lnTo>
                  <a:pt x="1066208" y="51910"/>
                </a:lnTo>
                <a:lnTo>
                  <a:pt x="1146648" y="24581"/>
                </a:lnTo>
                <a:lnTo>
                  <a:pt x="1177376" y="0"/>
                </a:lnTo>
                <a:lnTo>
                  <a:pt x="1240531" y="4656"/>
                </a:lnTo>
                <a:lnTo>
                  <a:pt x="1293035" y="8591"/>
                </a:lnTo>
                <a:lnTo>
                  <a:pt x="1352696" y="13918"/>
                </a:lnTo>
                <a:lnTo>
                  <a:pt x="1408553" y="46985"/>
                </a:lnTo>
                <a:lnTo>
                  <a:pt x="1556111" y="169686"/>
                </a:lnTo>
                <a:lnTo>
                  <a:pt x="1722984" y="302287"/>
                </a:lnTo>
                <a:lnTo>
                  <a:pt x="1909488" y="423264"/>
                </a:lnTo>
                <a:lnTo>
                  <a:pt x="2062267" y="520797"/>
                </a:lnTo>
                <a:lnTo>
                  <a:pt x="2246898" y="650865"/>
                </a:lnTo>
                <a:lnTo>
                  <a:pt x="2388124" y="778354"/>
                </a:lnTo>
                <a:lnTo>
                  <a:pt x="2454156" y="831552"/>
                </a:lnTo>
                <a:lnTo>
                  <a:pt x="2474809" y="844155"/>
                </a:lnTo>
                <a:lnTo>
                  <a:pt x="2492556" y="900528"/>
                </a:lnTo>
                <a:lnTo>
                  <a:pt x="2467423" y="924523"/>
                </a:lnTo>
                <a:lnTo>
                  <a:pt x="2435556" y="974610"/>
                </a:lnTo>
                <a:lnTo>
                  <a:pt x="2401141" y="1011989"/>
                </a:lnTo>
                <a:lnTo>
                  <a:pt x="2236717" y="1143290"/>
                </a:lnTo>
                <a:lnTo>
                  <a:pt x="2077089" y="1248269"/>
                </a:lnTo>
                <a:lnTo>
                  <a:pt x="1905945" y="1387231"/>
                </a:lnTo>
                <a:lnTo>
                  <a:pt x="1743782" y="1501805"/>
                </a:lnTo>
                <a:lnTo>
                  <a:pt x="1577137" y="1623427"/>
                </a:lnTo>
                <a:lnTo>
                  <a:pt x="1384891" y="1734411"/>
                </a:lnTo>
                <a:lnTo>
                  <a:pt x="1335008" y="1770410"/>
                </a:lnTo>
                <a:lnTo>
                  <a:pt x="1286112" y="1807520"/>
                </a:lnTo>
                <a:lnTo>
                  <a:pt x="1236928" y="1805160"/>
                </a:lnTo>
                <a:lnTo>
                  <a:pt x="1191592" y="1800608"/>
                </a:lnTo>
                <a:lnTo>
                  <a:pt x="1136937" y="1756430"/>
                </a:lnTo>
                <a:lnTo>
                  <a:pt x="1068897" y="1750344"/>
                </a:lnTo>
                <a:lnTo>
                  <a:pt x="910520" y="1605264"/>
                </a:lnTo>
                <a:lnTo>
                  <a:pt x="739956" y="1512210"/>
                </a:lnTo>
                <a:lnTo>
                  <a:pt x="569188" y="1367757"/>
                </a:lnTo>
                <a:lnTo>
                  <a:pt x="413014" y="1249626"/>
                </a:lnTo>
                <a:lnTo>
                  <a:pt x="259757" y="1142849"/>
                </a:lnTo>
                <a:lnTo>
                  <a:pt x="67878" y="1019875"/>
                </a:lnTo>
                <a:lnTo>
                  <a:pt x="23816" y="975433"/>
                </a:lnTo>
                <a:lnTo>
                  <a:pt x="4132" y="946785"/>
                </a:lnTo>
                <a:lnTo>
                  <a:pt x="0" y="896488"/>
                </a:lnTo>
                <a:lnTo>
                  <a:pt x="3039" y="867739"/>
                </a:lnTo>
                <a:lnTo>
                  <a:pt x="21330" y="812904"/>
                </a:lnTo>
                <a:close/>
              </a:path>
            </a:pathLst>
          </a:custGeom>
          <a:solidFill>
            <a:srgbClr val="F0B3C2"/>
          </a:solidFill>
          <a:ln w="28575" cap="rnd">
            <a:solidFill>
              <a:srgbClr val="B4576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14816" y="4745736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 spc="-30">
                <a:solidFill>
                  <a:srgbClr val="1B1B1B"/>
                </a:solidFill>
                <a:latin typeface="Archivo Black"/>
              </a:rPr>
              <a:t>BACK-END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4816" y="5070348"/>
            <a:ext cx="1591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200" b="0" i="1">
                <a:solidFill>
                  <a:srgbClr val="1B1B1B"/>
                </a:solidFill>
                <a:latin typeface="Inter"/>
              </a:rPr>
              <a:t>“Kitchen”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5742432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000"/>
              </a:lnSpc>
            </a:pPr>
            <a:r>
              <a:rPr sz="1300" b="0" i="1">
                <a:solidFill>
                  <a:srgbClr val="6E655C"/>
                </a:solidFill>
                <a:latin typeface="Inter"/>
              </a:rPr>
              <a:t>this is what the customer interacts with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59893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000"/>
              </a:lnSpc>
            </a:pPr>
            <a:r>
              <a:rPr sz="1300" b="0" i="1">
                <a:solidFill>
                  <a:srgbClr val="6E655C"/>
                </a:solidFill>
                <a:latin typeface="Inter"/>
              </a:rPr>
              <a:t>this is where the magic happens</a:t>
            </a:r>
          </a:p>
        </p:txBody>
      </p:sp>
      <p:sp>
        <p:nvSpPr>
          <p:cNvPr id="14" name="Freeform 13"/>
          <p:cNvSpPr/>
          <p:nvPr/>
        </p:nvSpPr>
        <p:spPr>
          <a:xfrm>
            <a:off x="4621469" y="4811851"/>
            <a:ext cx="3510396" cy="13239"/>
          </a:xfrm>
          <a:custGeom>
            <a:avLst/>
            <a:gdLst/>
            <a:ahLst/>
            <a:cxnLst/>
            <a:rect l="l" t="t" r="r" b="b"/>
            <a:pathLst>
              <a:path w="3510396" h="13239">
                <a:moveTo>
                  <a:pt x="0" y="0"/>
                </a:moveTo>
                <a:lnTo>
                  <a:pt x="1186382" y="13239"/>
                </a:lnTo>
                <a:lnTo>
                  <a:pt x="2346640" y="7493"/>
                </a:lnTo>
                <a:lnTo>
                  <a:pt x="3510396" y="8656"/>
                </a:lnTo>
              </a:path>
            </a:pathLst>
          </a:custGeom>
          <a:noFill/>
          <a:ln w="2857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001000" y="4761280"/>
            <a:ext cx="137160" cy="115215"/>
          </a:xfrm>
          <a:custGeom>
            <a:avLst/>
            <a:gdLst/>
            <a:ahLst/>
            <a:cxnLst/>
            <a:rect l="l" t="t" r="r" b="b"/>
            <a:pathLst>
              <a:path w="137160" h="115215">
                <a:moveTo>
                  <a:pt x="137160" y="57608"/>
                </a:moveTo>
                <a:lnTo>
                  <a:pt x="0" y="115215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610365" y="5122757"/>
            <a:ext cx="3528056" cy="12132"/>
          </a:xfrm>
          <a:custGeom>
            <a:avLst/>
            <a:gdLst/>
            <a:ahLst/>
            <a:cxnLst/>
            <a:rect l="l" t="t" r="r" b="b"/>
            <a:pathLst>
              <a:path w="3528056" h="12132">
                <a:moveTo>
                  <a:pt x="3528056" y="0"/>
                </a:moveTo>
                <a:lnTo>
                  <a:pt x="2325002" y="10005"/>
                </a:lnTo>
                <a:lnTo>
                  <a:pt x="1173317" y="12132"/>
                </a:lnTo>
                <a:lnTo>
                  <a:pt x="0" y="800"/>
                </a:lnTo>
              </a:path>
            </a:pathLst>
          </a:custGeom>
          <a:noFill/>
          <a:ln w="28575" cap="rnd">
            <a:solidFill>
              <a:srgbClr val="FF4D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4617720" y="5072176"/>
            <a:ext cx="137160" cy="115215"/>
          </a:xfrm>
          <a:custGeom>
            <a:avLst/>
            <a:gdLst/>
            <a:ahLst/>
            <a:cxnLst/>
            <a:rect l="l" t="t" r="r" b="b"/>
            <a:pathLst>
              <a:path w="137160" h="115215">
                <a:moveTo>
                  <a:pt x="0" y="57608"/>
                </a:moveTo>
                <a:lnTo>
                  <a:pt x="137160" y="0"/>
                </a:lnTo>
                <a:lnTo>
                  <a:pt x="137160" y="115215"/>
                </a:lnTo>
                <a:close/>
              </a:path>
            </a:pathLst>
          </a:cu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50799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300" b="0" i="0" spc="140">
                <a:solidFill>
                  <a:srgbClr val="6E655C"/>
                </a:solidFill>
                <a:latin typeface="Inter"/>
              </a:rPr>
              <a:t>A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23951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300" b="0" i="0" spc="140">
                <a:solidFill>
                  <a:srgbClr val="FF4D00"/>
                </a:solidFill>
                <a:latin typeface="Inter"/>
              </a:rPr>
              <a:t>THE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928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600" b="0" i="0" spc="-140">
                <a:solidFill>
                  <a:srgbClr val="14110F"/>
                </a:solidFill>
                <a:latin typeface="Archivo Black"/>
              </a:rPr>
              <a:t>IDEATION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34463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3A342E"/>
                </a:solidFill>
                <a:latin typeface="Inter"/>
              </a:rPr>
              <a:t>innovation vs. invention.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95928" y="2713736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1B1B1B"/>
                </a:solidFill>
                <a:latin typeface="Inter"/>
              </a:rPr>
              <a:t>two ways to “ideate” an application</a:t>
            </a:r>
          </a:p>
        </p:txBody>
      </p:sp>
      <p:sp>
        <p:nvSpPr>
          <p:cNvPr id="5" name="Freeform 4"/>
          <p:cNvSpPr/>
          <p:nvPr/>
        </p:nvSpPr>
        <p:spPr>
          <a:xfrm>
            <a:off x="3914686" y="3024079"/>
            <a:ext cx="1068635" cy="501958"/>
          </a:xfrm>
          <a:custGeom>
            <a:avLst/>
            <a:gdLst/>
            <a:ahLst/>
            <a:cxnLst/>
            <a:rect l="l" t="t" r="r" b="b"/>
            <a:pathLst>
              <a:path w="1068635" h="501958">
                <a:moveTo>
                  <a:pt x="1068635" y="0"/>
                </a:moveTo>
                <a:lnTo>
                  <a:pt x="710443" y="168071"/>
                </a:lnTo>
                <a:lnTo>
                  <a:pt x="347591" y="327915"/>
                </a:lnTo>
                <a:lnTo>
                  <a:pt x="0" y="501958"/>
                </a:lnTo>
              </a:path>
            </a:pathLst>
          </a:custGeom>
          <a:noFill/>
          <a:ln w="3175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913632" y="3403582"/>
            <a:ext cx="168401" cy="126002"/>
          </a:xfrm>
          <a:custGeom>
            <a:avLst/>
            <a:gdLst/>
            <a:ahLst/>
            <a:cxnLst/>
            <a:rect l="l" t="t" r="r" b="b"/>
            <a:pathLst>
              <a:path w="168401" h="126002">
                <a:moveTo>
                  <a:pt x="0" y="126002"/>
                </a:moveTo>
                <a:lnTo>
                  <a:pt x="112027" y="0"/>
                </a:lnTo>
                <a:lnTo>
                  <a:pt x="168401" y="11778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218874" y="3012126"/>
            <a:ext cx="1070935" cy="517575"/>
          </a:xfrm>
          <a:custGeom>
            <a:avLst/>
            <a:gdLst/>
            <a:ahLst/>
            <a:cxnLst/>
            <a:rect l="l" t="t" r="r" b="b"/>
            <a:pathLst>
              <a:path w="1070935" h="517575">
                <a:moveTo>
                  <a:pt x="0" y="0"/>
                </a:moveTo>
                <a:lnTo>
                  <a:pt x="361910" y="177145"/>
                </a:lnTo>
                <a:lnTo>
                  <a:pt x="714336" y="350742"/>
                </a:lnTo>
                <a:lnTo>
                  <a:pt x="1070935" y="517575"/>
                </a:lnTo>
              </a:path>
            </a:pathLst>
          </a:custGeom>
          <a:noFill/>
          <a:ln w="3175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8116062" y="3403582"/>
            <a:ext cx="168402" cy="126002"/>
          </a:xfrm>
          <a:custGeom>
            <a:avLst/>
            <a:gdLst/>
            <a:ahLst/>
            <a:cxnLst/>
            <a:rect l="l" t="t" r="r" b="b"/>
            <a:pathLst>
              <a:path w="168402" h="126002">
                <a:moveTo>
                  <a:pt x="168402" y="126002"/>
                </a:moveTo>
                <a:lnTo>
                  <a:pt x="0" y="117780"/>
                </a:lnTo>
                <a:lnTo>
                  <a:pt x="56374" y="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816434" y="3458484"/>
            <a:ext cx="4976759" cy="2219522"/>
          </a:xfrm>
          <a:custGeom>
            <a:avLst/>
            <a:gdLst/>
            <a:ahLst/>
            <a:cxnLst/>
            <a:rect l="l" t="t" r="r" b="b"/>
            <a:pathLst>
              <a:path w="4976759" h="2219522">
                <a:moveTo>
                  <a:pt x="297" y="1967080"/>
                </a:moveTo>
                <a:lnTo>
                  <a:pt x="5938" y="1630816"/>
                </a:lnTo>
                <a:lnTo>
                  <a:pt x="19699" y="1279399"/>
                </a:lnTo>
                <a:lnTo>
                  <a:pt x="0" y="950141"/>
                </a:lnTo>
                <a:lnTo>
                  <a:pt x="10878" y="611798"/>
                </a:lnTo>
                <a:lnTo>
                  <a:pt x="5171" y="244175"/>
                </a:lnTo>
                <a:lnTo>
                  <a:pt x="19153" y="179801"/>
                </a:lnTo>
                <a:lnTo>
                  <a:pt x="32732" y="115881"/>
                </a:lnTo>
                <a:lnTo>
                  <a:pt x="53012" y="92397"/>
                </a:lnTo>
                <a:lnTo>
                  <a:pt x="118973" y="43357"/>
                </a:lnTo>
                <a:lnTo>
                  <a:pt x="178977" y="23138"/>
                </a:lnTo>
                <a:lnTo>
                  <a:pt x="255493" y="31685"/>
                </a:lnTo>
                <a:lnTo>
                  <a:pt x="1138178" y="21919"/>
                </a:lnTo>
                <a:lnTo>
                  <a:pt x="2041681" y="21668"/>
                </a:lnTo>
                <a:lnTo>
                  <a:pt x="2927658" y="6194"/>
                </a:lnTo>
                <a:lnTo>
                  <a:pt x="3828267" y="0"/>
                </a:lnTo>
                <a:lnTo>
                  <a:pt x="4733084" y="22517"/>
                </a:lnTo>
                <a:lnTo>
                  <a:pt x="4790011" y="13561"/>
                </a:lnTo>
                <a:lnTo>
                  <a:pt x="4849328" y="28366"/>
                </a:lnTo>
                <a:lnTo>
                  <a:pt x="4914928" y="61494"/>
                </a:lnTo>
                <a:lnTo>
                  <a:pt x="4931047" y="118032"/>
                </a:lnTo>
                <a:lnTo>
                  <a:pt x="4938249" y="167392"/>
                </a:lnTo>
                <a:lnTo>
                  <a:pt x="4966384" y="248480"/>
                </a:lnTo>
                <a:lnTo>
                  <a:pt x="4949532" y="594631"/>
                </a:lnTo>
                <a:lnTo>
                  <a:pt x="4962871" y="930963"/>
                </a:lnTo>
                <a:lnTo>
                  <a:pt x="4957298" y="1298913"/>
                </a:lnTo>
                <a:lnTo>
                  <a:pt x="4976759" y="1622927"/>
                </a:lnTo>
                <a:lnTo>
                  <a:pt x="4959701" y="1973891"/>
                </a:lnTo>
                <a:lnTo>
                  <a:pt x="4950521" y="2035826"/>
                </a:lnTo>
                <a:lnTo>
                  <a:pt x="4935654" y="2103445"/>
                </a:lnTo>
                <a:lnTo>
                  <a:pt x="4918612" y="2151522"/>
                </a:lnTo>
                <a:lnTo>
                  <a:pt x="4860031" y="2185652"/>
                </a:lnTo>
                <a:lnTo>
                  <a:pt x="4812310" y="2201397"/>
                </a:lnTo>
                <a:lnTo>
                  <a:pt x="4737750" y="2204442"/>
                </a:lnTo>
                <a:lnTo>
                  <a:pt x="3832757" y="2217394"/>
                </a:lnTo>
                <a:lnTo>
                  <a:pt x="2938365" y="2198215"/>
                </a:lnTo>
                <a:lnTo>
                  <a:pt x="2032009" y="2202933"/>
                </a:lnTo>
                <a:lnTo>
                  <a:pt x="1138541" y="2215852"/>
                </a:lnTo>
                <a:lnTo>
                  <a:pt x="250119" y="2219522"/>
                </a:lnTo>
                <a:lnTo>
                  <a:pt x="160356" y="2201064"/>
                </a:lnTo>
                <a:lnTo>
                  <a:pt x="115129" y="2189680"/>
                </a:lnTo>
                <a:lnTo>
                  <a:pt x="46484" y="2140298"/>
                </a:lnTo>
                <a:lnTo>
                  <a:pt x="30269" y="2099688"/>
                </a:lnTo>
                <a:lnTo>
                  <a:pt x="7826" y="2056744"/>
                </a:lnTo>
                <a:close/>
              </a:path>
            </a:pathLst>
          </a:custGeom>
          <a:solidFill>
            <a:srgbClr val="A9D3EE"/>
          </a:solidFill>
          <a:ln w="28575" cap="rnd">
            <a:solidFill>
              <a:srgbClr val="2E6E9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334256"/>
            <a:ext cx="4956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0" i="0" spc="-30">
                <a:solidFill>
                  <a:srgbClr val="1B1B1B"/>
                </a:solidFill>
                <a:latin typeface="Archivo Black"/>
              </a:rPr>
              <a:t>INNOVATION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0224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500" b="0" i="1">
                <a:solidFill>
                  <a:srgbClr val="1B1B1B"/>
                </a:solidFill>
                <a:latin typeface="Inter"/>
              </a:rPr>
              <a:t>take an existing application and make it better, or make it your own</a:t>
            </a:r>
          </a:p>
        </p:txBody>
      </p:sp>
      <p:sp>
        <p:nvSpPr>
          <p:cNvPr id="12" name="Freeform 11"/>
          <p:cNvSpPr/>
          <p:nvPr/>
        </p:nvSpPr>
        <p:spPr>
          <a:xfrm>
            <a:off x="6419248" y="3468352"/>
            <a:ext cx="4944283" cy="2199060"/>
          </a:xfrm>
          <a:custGeom>
            <a:avLst/>
            <a:gdLst/>
            <a:ahLst/>
            <a:cxnLst/>
            <a:rect l="l" t="t" r="r" b="b"/>
            <a:pathLst>
              <a:path w="4944283" h="2199060">
                <a:moveTo>
                  <a:pt x="4944283" y="1105690"/>
                </a:moveTo>
                <a:lnTo>
                  <a:pt x="4931077" y="1239626"/>
                </a:lnTo>
                <a:lnTo>
                  <a:pt x="4863989" y="1390306"/>
                </a:lnTo>
                <a:lnTo>
                  <a:pt x="4766681" y="1508329"/>
                </a:lnTo>
                <a:lnTo>
                  <a:pt x="4610491" y="1646089"/>
                </a:lnTo>
                <a:lnTo>
                  <a:pt x="4446158" y="1784173"/>
                </a:lnTo>
                <a:lnTo>
                  <a:pt x="4231327" y="1893367"/>
                </a:lnTo>
                <a:lnTo>
                  <a:pt x="3987500" y="1968357"/>
                </a:lnTo>
                <a:lnTo>
                  <a:pt x="3719126" y="2057445"/>
                </a:lnTo>
                <a:lnTo>
                  <a:pt x="3436734" y="2129742"/>
                </a:lnTo>
                <a:lnTo>
                  <a:pt x="3114534" y="2166559"/>
                </a:lnTo>
                <a:lnTo>
                  <a:pt x="2785489" y="2187470"/>
                </a:lnTo>
                <a:lnTo>
                  <a:pt x="2478359" y="2199060"/>
                </a:lnTo>
                <a:lnTo>
                  <a:pt x="2152183" y="2173383"/>
                </a:lnTo>
                <a:lnTo>
                  <a:pt x="1836659" y="2171333"/>
                </a:lnTo>
                <a:lnTo>
                  <a:pt x="1530547" y="2121915"/>
                </a:lnTo>
                <a:lnTo>
                  <a:pt x="1254102" y="2068037"/>
                </a:lnTo>
                <a:lnTo>
                  <a:pt x="967870" y="1981298"/>
                </a:lnTo>
                <a:lnTo>
                  <a:pt x="720656" y="1877833"/>
                </a:lnTo>
                <a:lnTo>
                  <a:pt x="526031" y="1780779"/>
                </a:lnTo>
                <a:lnTo>
                  <a:pt x="326634" y="1651480"/>
                </a:lnTo>
                <a:lnTo>
                  <a:pt x="184204" y="1518200"/>
                </a:lnTo>
                <a:lnTo>
                  <a:pt x="97573" y="1392343"/>
                </a:lnTo>
                <a:lnTo>
                  <a:pt x="14341" y="1246638"/>
                </a:lnTo>
                <a:lnTo>
                  <a:pt x="0" y="1098213"/>
                </a:lnTo>
                <a:lnTo>
                  <a:pt x="19548" y="968185"/>
                </a:lnTo>
                <a:lnTo>
                  <a:pt x="99824" y="819526"/>
                </a:lnTo>
                <a:lnTo>
                  <a:pt x="180570" y="680188"/>
                </a:lnTo>
                <a:lnTo>
                  <a:pt x="327147" y="567910"/>
                </a:lnTo>
                <a:lnTo>
                  <a:pt x="506668" y="446087"/>
                </a:lnTo>
                <a:lnTo>
                  <a:pt x="722461" y="319344"/>
                </a:lnTo>
                <a:lnTo>
                  <a:pt x="975940" y="227993"/>
                </a:lnTo>
                <a:lnTo>
                  <a:pt x="1255642" y="155690"/>
                </a:lnTo>
                <a:lnTo>
                  <a:pt x="1529979" y="105705"/>
                </a:lnTo>
                <a:lnTo>
                  <a:pt x="1825553" y="38822"/>
                </a:lnTo>
                <a:lnTo>
                  <a:pt x="2153949" y="25042"/>
                </a:lnTo>
                <a:lnTo>
                  <a:pt x="2477311" y="0"/>
                </a:lnTo>
                <a:lnTo>
                  <a:pt x="2810109" y="18261"/>
                </a:lnTo>
                <a:lnTo>
                  <a:pt x="3120531" y="47924"/>
                </a:lnTo>
                <a:lnTo>
                  <a:pt x="3428687" y="75978"/>
                </a:lnTo>
                <a:lnTo>
                  <a:pt x="3714508" y="162351"/>
                </a:lnTo>
                <a:lnTo>
                  <a:pt x="3982812" y="223032"/>
                </a:lnTo>
                <a:lnTo>
                  <a:pt x="4220945" y="326155"/>
                </a:lnTo>
                <a:lnTo>
                  <a:pt x="4442334" y="441955"/>
                </a:lnTo>
                <a:lnTo>
                  <a:pt x="4610512" y="554357"/>
                </a:lnTo>
                <a:lnTo>
                  <a:pt x="4768115" y="690847"/>
                </a:lnTo>
                <a:lnTo>
                  <a:pt x="4864859" y="823755"/>
                </a:lnTo>
                <a:lnTo>
                  <a:pt x="4943195" y="952738"/>
                </a:lnTo>
                <a:close/>
              </a:path>
            </a:pathLst>
          </a:custGeom>
          <a:solidFill>
            <a:srgbClr val="F0B3C2"/>
          </a:solidFill>
          <a:ln w="28575" cap="rnd">
            <a:solidFill>
              <a:srgbClr val="B4576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62495" y="4334256"/>
            <a:ext cx="346923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0" i="0" spc="-30">
                <a:solidFill>
                  <a:srgbClr val="1B1B1B"/>
                </a:solidFill>
                <a:latin typeface="Archivo Black"/>
              </a:rPr>
              <a:t>INVENTION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2495" y="4840224"/>
            <a:ext cx="346923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0" i="1">
                <a:solidFill>
                  <a:srgbClr val="1B1B1B"/>
                </a:solidFill>
                <a:latin typeface="Inter"/>
              </a:rPr>
              <a:t>the unicorn — brand new, never built 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42432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000"/>
              </a:lnSpc>
            </a:pPr>
            <a:r>
              <a:rPr sz="1400" b="0" i="1">
                <a:solidFill>
                  <a:srgbClr val="6E655C"/>
                </a:solidFill>
                <a:latin typeface="Inter"/>
              </a:rPr>
              <a:t>validated demand — someone already pays for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5742432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000"/>
              </a:lnSpc>
            </a:pPr>
            <a:r>
              <a:rPr sz="1400" b="0" i="1">
                <a:solidFill>
                  <a:srgbClr val="6E655C"/>
                </a:solidFill>
                <a:latin typeface="Inter"/>
              </a:rPr>
              <a:t>nothing is battle-tested — no market proven yet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1338560" cy="998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200" b="0" i="0" spc="-140">
                <a:solidFill>
                  <a:srgbClr val="14110F"/>
                </a:solidFill>
                <a:latin typeface="Archivo Black"/>
              </a:rPr>
              <a:t>EXPLORE, PLAN,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04567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3A342E"/>
                </a:solidFill>
                <a:latin typeface="Inter"/>
              </a:rPr>
              <a:t>thirty minutes in explore and plan can save thirty hours in build.</a:t>
            </a:r>
          </a:p>
        </p:txBody>
      </p:sp>
      <p:sp>
        <p:nvSpPr>
          <p:cNvPr id="4" name="Freeform 3"/>
          <p:cNvSpPr/>
          <p:nvPr/>
        </p:nvSpPr>
        <p:spPr>
          <a:xfrm>
            <a:off x="899985" y="3295399"/>
            <a:ext cx="2630299" cy="1579790"/>
          </a:xfrm>
          <a:custGeom>
            <a:avLst/>
            <a:gdLst/>
            <a:ahLst/>
            <a:cxnLst/>
            <a:rect l="l" t="t" r="r" b="b"/>
            <a:pathLst>
              <a:path w="2630299" h="1579790">
                <a:moveTo>
                  <a:pt x="10434" y="1407624"/>
                </a:moveTo>
                <a:lnTo>
                  <a:pt x="26882" y="1158228"/>
                </a:lnTo>
                <a:lnTo>
                  <a:pt x="12867" y="906660"/>
                </a:lnTo>
                <a:lnTo>
                  <a:pt x="26908" y="669046"/>
                </a:lnTo>
                <a:lnTo>
                  <a:pt x="17404" y="412650"/>
                </a:lnTo>
                <a:lnTo>
                  <a:pt x="0" y="181820"/>
                </a:lnTo>
                <a:lnTo>
                  <a:pt x="3406" y="116734"/>
                </a:lnTo>
                <a:lnTo>
                  <a:pt x="31693" y="65728"/>
                </a:lnTo>
                <a:lnTo>
                  <a:pt x="48874" y="54375"/>
                </a:lnTo>
                <a:lnTo>
                  <a:pt x="98573" y="23955"/>
                </a:lnTo>
                <a:lnTo>
                  <a:pt x="118755" y="8772"/>
                </a:lnTo>
                <a:lnTo>
                  <a:pt x="186948" y="13215"/>
                </a:lnTo>
                <a:lnTo>
                  <a:pt x="629616" y="0"/>
                </a:lnTo>
                <a:lnTo>
                  <a:pt x="1097937" y="19545"/>
                </a:lnTo>
                <a:lnTo>
                  <a:pt x="1536197" y="455"/>
                </a:lnTo>
                <a:lnTo>
                  <a:pt x="2003644" y="6134"/>
                </a:lnTo>
                <a:lnTo>
                  <a:pt x="2459131" y="5300"/>
                </a:lnTo>
                <a:lnTo>
                  <a:pt x="2502493" y="16775"/>
                </a:lnTo>
                <a:lnTo>
                  <a:pt x="2565573" y="27384"/>
                </a:lnTo>
                <a:lnTo>
                  <a:pt x="2589523" y="42215"/>
                </a:lnTo>
                <a:lnTo>
                  <a:pt x="2602789" y="96370"/>
                </a:lnTo>
                <a:lnTo>
                  <a:pt x="2621752" y="120438"/>
                </a:lnTo>
                <a:lnTo>
                  <a:pt x="2610774" y="172928"/>
                </a:lnTo>
                <a:lnTo>
                  <a:pt x="2616187" y="427419"/>
                </a:lnTo>
                <a:lnTo>
                  <a:pt x="2616392" y="658857"/>
                </a:lnTo>
                <a:lnTo>
                  <a:pt x="2630299" y="900611"/>
                </a:lnTo>
                <a:lnTo>
                  <a:pt x="2612579" y="1148590"/>
                </a:lnTo>
                <a:lnTo>
                  <a:pt x="2618871" y="1407660"/>
                </a:lnTo>
                <a:lnTo>
                  <a:pt x="2612513" y="1452263"/>
                </a:lnTo>
                <a:lnTo>
                  <a:pt x="2588911" y="1493794"/>
                </a:lnTo>
                <a:lnTo>
                  <a:pt x="2579407" y="1536577"/>
                </a:lnTo>
                <a:lnTo>
                  <a:pt x="2553670" y="1542916"/>
                </a:lnTo>
                <a:lnTo>
                  <a:pt x="2497820" y="1550411"/>
                </a:lnTo>
                <a:lnTo>
                  <a:pt x="2449337" y="1550870"/>
                </a:lnTo>
                <a:lnTo>
                  <a:pt x="1993991" y="1563842"/>
                </a:lnTo>
                <a:lnTo>
                  <a:pt x="1546898" y="1555056"/>
                </a:lnTo>
                <a:lnTo>
                  <a:pt x="1080756" y="1549134"/>
                </a:lnTo>
                <a:lnTo>
                  <a:pt x="634047" y="1579790"/>
                </a:lnTo>
                <a:lnTo>
                  <a:pt x="172859" y="1556178"/>
                </a:lnTo>
                <a:lnTo>
                  <a:pt x="138034" y="1552836"/>
                </a:lnTo>
                <a:lnTo>
                  <a:pt x="80604" y="1551614"/>
                </a:lnTo>
                <a:lnTo>
                  <a:pt x="59195" y="1523940"/>
                </a:lnTo>
                <a:lnTo>
                  <a:pt x="20619" y="1487699"/>
                </a:lnTo>
                <a:lnTo>
                  <a:pt x="19047" y="1451130"/>
                </a:lnTo>
                <a:close/>
              </a:path>
            </a:pathLst>
          </a:custGeom>
          <a:solidFill>
            <a:srgbClr val="FFFFFF"/>
          </a:solidFill>
          <a:ln w="2857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32556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0" i="0" spc="-100">
                <a:solidFill>
                  <a:srgbClr val="14110F"/>
                </a:solidFill>
                <a:latin typeface="Archivo Black"/>
              </a:rPr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3722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 spc="-20">
                <a:solidFill>
                  <a:srgbClr val="14110F"/>
                </a:solidFill>
                <a:latin typeface="Archivo Black"/>
              </a:rPr>
              <a:t>EXPLORE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1154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E655C"/>
                </a:solidFill>
                <a:latin typeface="Inter"/>
              </a:rPr>
              <a:t>research the demand</a:t>
            </a:r>
          </a:p>
        </p:txBody>
      </p:sp>
      <p:sp>
        <p:nvSpPr>
          <p:cNvPr id="8" name="Freeform 7"/>
          <p:cNvSpPr/>
          <p:nvPr/>
        </p:nvSpPr>
        <p:spPr>
          <a:xfrm>
            <a:off x="4719018" y="3290376"/>
            <a:ext cx="2633111" cy="1575595"/>
          </a:xfrm>
          <a:custGeom>
            <a:avLst/>
            <a:gdLst/>
            <a:ahLst/>
            <a:cxnLst/>
            <a:rect l="l" t="t" r="r" b="b"/>
            <a:pathLst>
              <a:path w="2633111" h="1575595">
                <a:moveTo>
                  <a:pt x="3763" y="1401549"/>
                </a:moveTo>
                <a:lnTo>
                  <a:pt x="5623" y="1173031"/>
                </a:lnTo>
                <a:lnTo>
                  <a:pt x="22535" y="922985"/>
                </a:lnTo>
                <a:lnTo>
                  <a:pt x="9691" y="651766"/>
                </a:lnTo>
                <a:lnTo>
                  <a:pt x="11689" y="419089"/>
                </a:lnTo>
                <a:lnTo>
                  <a:pt x="0" y="187399"/>
                </a:lnTo>
                <a:lnTo>
                  <a:pt x="9924" y="136269"/>
                </a:lnTo>
                <a:lnTo>
                  <a:pt x="26165" y="85498"/>
                </a:lnTo>
                <a:lnTo>
                  <a:pt x="53607" y="47599"/>
                </a:lnTo>
                <a:lnTo>
                  <a:pt x="83132" y="33457"/>
                </a:lnTo>
                <a:lnTo>
                  <a:pt x="125316" y="23061"/>
                </a:lnTo>
                <a:lnTo>
                  <a:pt x="185124" y="14694"/>
                </a:lnTo>
                <a:lnTo>
                  <a:pt x="640383" y="7072"/>
                </a:lnTo>
                <a:lnTo>
                  <a:pt x="1091504" y="27380"/>
                </a:lnTo>
                <a:lnTo>
                  <a:pt x="1539096" y="7568"/>
                </a:lnTo>
                <a:lnTo>
                  <a:pt x="1989228" y="0"/>
                </a:lnTo>
                <a:lnTo>
                  <a:pt x="2439032" y="9124"/>
                </a:lnTo>
                <a:lnTo>
                  <a:pt x="2499423" y="30580"/>
                </a:lnTo>
                <a:lnTo>
                  <a:pt x="2530118" y="31303"/>
                </a:lnTo>
                <a:lnTo>
                  <a:pt x="2584245" y="65887"/>
                </a:lnTo>
                <a:lnTo>
                  <a:pt x="2580941" y="79355"/>
                </a:lnTo>
                <a:lnTo>
                  <a:pt x="2615668" y="133187"/>
                </a:lnTo>
                <a:lnTo>
                  <a:pt x="2622633" y="176070"/>
                </a:lnTo>
                <a:lnTo>
                  <a:pt x="2633111" y="425731"/>
                </a:lnTo>
                <a:lnTo>
                  <a:pt x="2605865" y="659066"/>
                </a:lnTo>
                <a:lnTo>
                  <a:pt x="2606540" y="926803"/>
                </a:lnTo>
                <a:lnTo>
                  <a:pt x="2628619" y="1151998"/>
                </a:lnTo>
                <a:lnTo>
                  <a:pt x="2615438" y="1417489"/>
                </a:lnTo>
                <a:lnTo>
                  <a:pt x="2626461" y="1454766"/>
                </a:lnTo>
                <a:lnTo>
                  <a:pt x="2595205" y="1486524"/>
                </a:lnTo>
                <a:lnTo>
                  <a:pt x="2573008" y="1511406"/>
                </a:lnTo>
                <a:lnTo>
                  <a:pt x="2541742" y="1551223"/>
                </a:lnTo>
                <a:lnTo>
                  <a:pt x="2488134" y="1549105"/>
                </a:lnTo>
                <a:lnTo>
                  <a:pt x="2467233" y="1575595"/>
                </a:lnTo>
                <a:lnTo>
                  <a:pt x="1978474" y="1554453"/>
                </a:lnTo>
                <a:lnTo>
                  <a:pt x="1544089" y="1572073"/>
                </a:lnTo>
                <a:lnTo>
                  <a:pt x="1085894" y="1562636"/>
                </a:lnTo>
                <a:lnTo>
                  <a:pt x="638451" y="1565135"/>
                </a:lnTo>
                <a:lnTo>
                  <a:pt x="164515" y="1573956"/>
                </a:lnTo>
                <a:lnTo>
                  <a:pt x="120035" y="1548429"/>
                </a:lnTo>
                <a:lnTo>
                  <a:pt x="92363" y="1552457"/>
                </a:lnTo>
                <a:lnTo>
                  <a:pt x="42746" y="1534630"/>
                </a:lnTo>
                <a:lnTo>
                  <a:pt x="34404" y="1485149"/>
                </a:lnTo>
                <a:lnTo>
                  <a:pt x="3478" y="1444339"/>
                </a:lnTo>
                <a:close/>
              </a:path>
            </a:pathLst>
          </a:custGeom>
          <a:solidFill>
            <a:srgbClr val="FFFFFF"/>
          </a:solidFill>
          <a:ln w="2857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3432556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0" i="0" spc="-100">
                <a:solidFill>
                  <a:srgbClr val="14110F"/>
                </a:solidFill>
                <a:latin typeface="Archivo Black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423722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 spc="-20">
                <a:solidFill>
                  <a:srgbClr val="14110F"/>
                </a:solidFill>
                <a:latin typeface="Archivo Black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451154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E655C"/>
                </a:solidFill>
                <a:latin typeface="Inter"/>
              </a:rPr>
              <a:t>write the PRD</a:t>
            </a:r>
          </a:p>
        </p:txBody>
      </p:sp>
      <p:sp>
        <p:nvSpPr>
          <p:cNvPr id="12" name="Freeform 11"/>
          <p:cNvSpPr/>
          <p:nvPr/>
        </p:nvSpPr>
        <p:spPr>
          <a:xfrm>
            <a:off x="3596204" y="4072536"/>
            <a:ext cx="1049747" cy="13467"/>
          </a:xfrm>
          <a:custGeom>
            <a:avLst/>
            <a:gdLst/>
            <a:ahLst/>
            <a:cxnLst/>
            <a:rect l="l" t="t" r="r" b="b"/>
            <a:pathLst>
              <a:path w="1049747" h="13467">
                <a:moveTo>
                  <a:pt x="0" y="0"/>
                </a:moveTo>
                <a:lnTo>
                  <a:pt x="360893" y="11849"/>
                </a:lnTo>
                <a:lnTo>
                  <a:pt x="702861" y="13467"/>
                </a:lnTo>
                <a:lnTo>
                  <a:pt x="1049747" y="12719"/>
                </a:lnTo>
              </a:path>
            </a:pathLst>
          </a:custGeom>
          <a:noFill/>
          <a:ln w="3175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480560" y="4016491"/>
            <a:ext cx="155448" cy="130577"/>
          </a:xfrm>
          <a:custGeom>
            <a:avLst/>
            <a:gdLst/>
            <a:ahLst/>
            <a:cxnLst/>
            <a:rect l="l" t="t" r="r" b="b"/>
            <a:pathLst>
              <a:path w="155448" h="130577">
                <a:moveTo>
                  <a:pt x="155448" y="65288"/>
                </a:moveTo>
                <a:lnTo>
                  <a:pt x="0" y="130577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524912" y="3302789"/>
            <a:ext cx="2636463" cy="1570041"/>
          </a:xfrm>
          <a:custGeom>
            <a:avLst/>
            <a:gdLst/>
            <a:ahLst/>
            <a:cxnLst/>
            <a:rect l="l" t="t" r="r" b="b"/>
            <a:pathLst>
              <a:path w="2636463" h="1570041">
                <a:moveTo>
                  <a:pt x="8847" y="1382434"/>
                </a:moveTo>
                <a:lnTo>
                  <a:pt x="0" y="1151319"/>
                </a:lnTo>
                <a:lnTo>
                  <a:pt x="28511" y="904997"/>
                </a:lnTo>
                <a:lnTo>
                  <a:pt x="19942" y="658336"/>
                </a:lnTo>
                <a:lnTo>
                  <a:pt x="10687" y="394904"/>
                </a:lnTo>
                <a:lnTo>
                  <a:pt x="10292" y="172840"/>
                </a:lnTo>
                <a:lnTo>
                  <a:pt x="11353" y="125725"/>
                </a:lnTo>
                <a:lnTo>
                  <a:pt x="46444" y="84681"/>
                </a:lnTo>
                <a:lnTo>
                  <a:pt x="59051" y="32364"/>
                </a:lnTo>
                <a:lnTo>
                  <a:pt x="86301" y="12753"/>
                </a:lnTo>
                <a:lnTo>
                  <a:pt x="137496" y="5267"/>
                </a:lnTo>
                <a:lnTo>
                  <a:pt x="168208" y="7039"/>
                </a:lnTo>
                <a:lnTo>
                  <a:pt x="633613" y="306"/>
                </a:lnTo>
                <a:lnTo>
                  <a:pt x="1098330" y="12947"/>
                </a:lnTo>
                <a:lnTo>
                  <a:pt x="1546036" y="0"/>
                </a:lnTo>
                <a:lnTo>
                  <a:pt x="1998831" y="6384"/>
                </a:lnTo>
                <a:lnTo>
                  <a:pt x="2455045" y="1934"/>
                </a:lnTo>
                <a:lnTo>
                  <a:pt x="2496932" y="11292"/>
                </a:lnTo>
                <a:lnTo>
                  <a:pt x="2549841" y="11212"/>
                </a:lnTo>
                <a:lnTo>
                  <a:pt x="2579113" y="57448"/>
                </a:lnTo>
                <a:lnTo>
                  <a:pt x="2605696" y="66426"/>
                </a:lnTo>
                <a:lnTo>
                  <a:pt x="2614284" y="115924"/>
                </a:lnTo>
                <a:lnTo>
                  <a:pt x="2627145" y="179954"/>
                </a:lnTo>
                <a:lnTo>
                  <a:pt x="2615890" y="405576"/>
                </a:lnTo>
                <a:lnTo>
                  <a:pt x="2636463" y="657963"/>
                </a:lnTo>
                <a:lnTo>
                  <a:pt x="2629553" y="913264"/>
                </a:lnTo>
                <a:lnTo>
                  <a:pt x="2615916" y="1152923"/>
                </a:lnTo>
                <a:lnTo>
                  <a:pt x="2633531" y="1410658"/>
                </a:lnTo>
                <a:lnTo>
                  <a:pt x="2619719" y="1434935"/>
                </a:lnTo>
                <a:lnTo>
                  <a:pt x="2596795" y="1496301"/>
                </a:lnTo>
                <a:lnTo>
                  <a:pt x="2577913" y="1517706"/>
                </a:lnTo>
                <a:lnTo>
                  <a:pt x="2544199" y="1536327"/>
                </a:lnTo>
                <a:lnTo>
                  <a:pt x="2503496" y="1545198"/>
                </a:lnTo>
                <a:lnTo>
                  <a:pt x="2463356" y="1555025"/>
                </a:lnTo>
                <a:lnTo>
                  <a:pt x="1996777" y="1547368"/>
                </a:lnTo>
                <a:lnTo>
                  <a:pt x="1537881" y="1549889"/>
                </a:lnTo>
                <a:lnTo>
                  <a:pt x="1087470" y="1546806"/>
                </a:lnTo>
                <a:lnTo>
                  <a:pt x="631941" y="1553497"/>
                </a:lnTo>
                <a:lnTo>
                  <a:pt x="188545" y="1570041"/>
                </a:lnTo>
                <a:lnTo>
                  <a:pt x="143481" y="1544264"/>
                </a:lnTo>
                <a:lnTo>
                  <a:pt x="95247" y="1539327"/>
                </a:lnTo>
                <a:lnTo>
                  <a:pt x="73127" y="1520486"/>
                </a:lnTo>
                <a:lnTo>
                  <a:pt x="31536" y="1484145"/>
                </a:lnTo>
                <a:lnTo>
                  <a:pt x="19319" y="1436116"/>
                </a:lnTo>
                <a:close/>
              </a:path>
            </a:pathLst>
          </a:custGeom>
          <a:solidFill>
            <a:srgbClr val="FFFFFF"/>
          </a:solidFill>
          <a:ln w="2857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3432556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0" i="0" spc="-100">
                <a:solidFill>
                  <a:srgbClr val="14110F"/>
                </a:solidFill>
                <a:latin typeface="Archivo Black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423722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 spc="-20">
                <a:solidFill>
                  <a:srgbClr val="14110F"/>
                </a:solidFill>
                <a:latin typeface="Archivo Black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451154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E655C"/>
                </a:solidFill>
                <a:latin typeface="Inter"/>
              </a:rPr>
              <a:t>only then, code it</a:t>
            </a:r>
          </a:p>
        </p:txBody>
      </p:sp>
      <p:sp>
        <p:nvSpPr>
          <p:cNvPr id="18" name="Freeform 17"/>
          <p:cNvSpPr/>
          <p:nvPr/>
        </p:nvSpPr>
        <p:spPr>
          <a:xfrm>
            <a:off x="7406601" y="4074629"/>
            <a:ext cx="1042913" cy="11659"/>
          </a:xfrm>
          <a:custGeom>
            <a:avLst/>
            <a:gdLst/>
            <a:ahLst/>
            <a:cxnLst/>
            <a:rect l="l" t="t" r="r" b="b"/>
            <a:pathLst>
              <a:path w="1042913" h="11659">
                <a:moveTo>
                  <a:pt x="0" y="6554"/>
                </a:moveTo>
                <a:lnTo>
                  <a:pt x="362463" y="1919"/>
                </a:lnTo>
                <a:lnTo>
                  <a:pt x="696523" y="11659"/>
                </a:lnTo>
                <a:lnTo>
                  <a:pt x="1042913" y="0"/>
                </a:lnTo>
              </a:path>
            </a:pathLst>
          </a:custGeom>
          <a:noFill/>
          <a:ln w="3175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293608" y="4016491"/>
            <a:ext cx="155448" cy="130577"/>
          </a:xfrm>
          <a:custGeom>
            <a:avLst/>
            <a:gdLst/>
            <a:ahLst/>
            <a:cxnLst/>
            <a:rect l="l" t="t" r="r" b="b"/>
            <a:pathLst>
              <a:path w="155448" h="130577">
                <a:moveTo>
                  <a:pt x="155448" y="65288"/>
                </a:moveTo>
                <a:lnTo>
                  <a:pt x="0" y="130577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8360395" y="3158416"/>
            <a:ext cx="2957540" cy="1845885"/>
          </a:xfrm>
          <a:custGeom>
            <a:avLst/>
            <a:gdLst/>
            <a:ahLst/>
            <a:cxnLst/>
            <a:rect l="l" t="t" r="r" b="b"/>
            <a:pathLst>
              <a:path w="2957540" h="1845885">
                <a:moveTo>
                  <a:pt x="2933408" y="938325"/>
                </a:moveTo>
                <a:lnTo>
                  <a:pt x="2889536" y="1046586"/>
                </a:lnTo>
                <a:lnTo>
                  <a:pt x="2907969" y="1199168"/>
                </a:lnTo>
                <a:lnTo>
                  <a:pt x="2760610" y="1307924"/>
                </a:lnTo>
                <a:lnTo>
                  <a:pt x="2709756" y="1446674"/>
                </a:lnTo>
                <a:lnTo>
                  <a:pt x="2582662" y="1553767"/>
                </a:lnTo>
                <a:lnTo>
                  <a:pt x="2437968" y="1611315"/>
                </a:lnTo>
                <a:lnTo>
                  <a:pt x="2266427" y="1697132"/>
                </a:lnTo>
                <a:lnTo>
                  <a:pt x="2080220" y="1772196"/>
                </a:lnTo>
                <a:lnTo>
                  <a:pt x="1878977" y="1829532"/>
                </a:lnTo>
                <a:lnTo>
                  <a:pt x="1673654" y="1835356"/>
                </a:lnTo>
                <a:lnTo>
                  <a:pt x="1488410" y="1827153"/>
                </a:lnTo>
                <a:lnTo>
                  <a:pt x="1277040" y="1828031"/>
                </a:lnTo>
                <a:lnTo>
                  <a:pt x="1092244" y="1845885"/>
                </a:lnTo>
                <a:lnTo>
                  <a:pt x="862999" y="1751668"/>
                </a:lnTo>
                <a:lnTo>
                  <a:pt x="712841" y="1698934"/>
                </a:lnTo>
                <a:lnTo>
                  <a:pt x="540345" y="1617972"/>
                </a:lnTo>
                <a:lnTo>
                  <a:pt x="375670" y="1553070"/>
                </a:lnTo>
                <a:lnTo>
                  <a:pt x="244636" y="1427852"/>
                </a:lnTo>
                <a:lnTo>
                  <a:pt x="195845" y="1299848"/>
                </a:lnTo>
                <a:lnTo>
                  <a:pt x="65570" y="1147524"/>
                </a:lnTo>
                <a:lnTo>
                  <a:pt x="70459" y="1034113"/>
                </a:lnTo>
                <a:lnTo>
                  <a:pt x="0" y="930685"/>
                </a:lnTo>
                <a:lnTo>
                  <a:pt x="58076" y="810246"/>
                </a:lnTo>
                <a:lnTo>
                  <a:pt x="124802" y="621661"/>
                </a:lnTo>
                <a:lnTo>
                  <a:pt x="131462" y="545921"/>
                </a:lnTo>
                <a:lnTo>
                  <a:pt x="232476" y="437151"/>
                </a:lnTo>
                <a:lnTo>
                  <a:pt x="410413" y="290252"/>
                </a:lnTo>
                <a:lnTo>
                  <a:pt x="505887" y="229787"/>
                </a:lnTo>
                <a:lnTo>
                  <a:pt x="663502" y="134192"/>
                </a:lnTo>
                <a:lnTo>
                  <a:pt x="868308" y="67860"/>
                </a:lnTo>
                <a:lnTo>
                  <a:pt x="1066486" y="31477"/>
                </a:lnTo>
                <a:lnTo>
                  <a:pt x="1238194" y="13853"/>
                </a:lnTo>
                <a:lnTo>
                  <a:pt x="1475075" y="3878"/>
                </a:lnTo>
                <a:lnTo>
                  <a:pt x="1662196" y="0"/>
                </a:lnTo>
                <a:lnTo>
                  <a:pt x="1892602" y="38070"/>
                </a:lnTo>
                <a:lnTo>
                  <a:pt x="2079597" y="49375"/>
                </a:lnTo>
                <a:lnTo>
                  <a:pt x="2247855" y="131225"/>
                </a:lnTo>
                <a:lnTo>
                  <a:pt x="2464601" y="201179"/>
                </a:lnTo>
                <a:lnTo>
                  <a:pt x="2598670" y="315961"/>
                </a:lnTo>
                <a:lnTo>
                  <a:pt x="2729387" y="406551"/>
                </a:lnTo>
                <a:lnTo>
                  <a:pt x="2818795" y="529330"/>
                </a:lnTo>
                <a:lnTo>
                  <a:pt x="2887358" y="670180"/>
                </a:lnTo>
                <a:lnTo>
                  <a:pt x="2957540" y="809197"/>
                </a:lnTo>
              </a:path>
            </a:pathLst>
          </a:custGeom>
          <a:noFill/>
          <a:ln w="34925" cap="rnd">
            <a:solidFill>
              <a:srgbClr val="FF4D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8351274" y="3065049"/>
            <a:ext cx="3018650" cy="2049658"/>
          </a:xfrm>
          <a:custGeom>
            <a:avLst/>
            <a:gdLst/>
            <a:ahLst/>
            <a:cxnLst/>
            <a:rect l="l" t="t" r="r" b="b"/>
            <a:pathLst>
              <a:path w="3018650" h="2049658">
                <a:moveTo>
                  <a:pt x="2989817" y="1148971"/>
                </a:moveTo>
                <a:lnTo>
                  <a:pt x="2960947" y="1274274"/>
                </a:lnTo>
                <a:lnTo>
                  <a:pt x="2868076" y="1420392"/>
                </a:lnTo>
                <a:lnTo>
                  <a:pt x="2752700" y="1554998"/>
                </a:lnTo>
                <a:lnTo>
                  <a:pt x="2566099" y="1634432"/>
                </a:lnTo>
                <a:lnTo>
                  <a:pt x="2514816" y="1753238"/>
                </a:lnTo>
                <a:lnTo>
                  <a:pt x="2312383" y="1856795"/>
                </a:lnTo>
                <a:lnTo>
                  <a:pt x="2102103" y="1946501"/>
                </a:lnTo>
                <a:lnTo>
                  <a:pt x="1916642" y="1965428"/>
                </a:lnTo>
                <a:lnTo>
                  <a:pt x="1646318" y="1979353"/>
                </a:lnTo>
                <a:lnTo>
                  <a:pt x="1498649" y="2049658"/>
                </a:lnTo>
                <a:lnTo>
                  <a:pt x="1271119" y="2000995"/>
                </a:lnTo>
                <a:lnTo>
                  <a:pt x="1121343" y="1945118"/>
                </a:lnTo>
                <a:lnTo>
                  <a:pt x="882944" y="1846103"/>
                </a:lnTo>
                <a:lnTo>
                  <a:pt x="656566" y="1866190"/>
                </a:lnTo>
                <a:lnTo>
                  <a:pt x="530467" y="1734163"/>
                </a:lnTo>
                <a:lnTo>
                  <a:pt x="310340" y="1675771"/>
                </a:lnTo>
                <a:lnTo>
                  <a:pt x="203498" y="1544928"/>
                </a:lnTo>
                <a:lnTo>
                  <a:pt x="162974" y="1484819"/>
                </a:lnTo>
                <a:lnTo>
                  <a:pt x="50423" y="1310478"/>
                </a:lnTo>
                <a:lnTo>
                  <a:pt x="60773" y="1186282"/>
                </a:lnTo>
                <a:lnTo>
                  <a:pt x="4552" y="1035360"/>
                </a:lnTo>
                <a:lnTo>
                  <a:pt x="35873" y="839805"/>
                </a:lnTo>
                <a:lnTo>
                  <a:pt x="0" y="781356"/>
                </a:lnTo>
                <a:lnTo>
                  <a:pt x="142764" y="631073"/>
                </a:lnTo>
                <a:lnTo>
                  <a:pt x="235510" y="477248"/>
                </a:lnTo>
                <a:lnTo>
                  <a:pt x="421388" y="350433"/>
                </a:lnTo>
                <a:lnTo>
                  <a:pt x="519705" y="238738"/>
                </a:lnTo>
                <a:lnTo>
                  <a:pt x="738972" y="192859"/>
                </a:lnTo>
                <a:lnTo>
                  <a:pt x="872085" y="164809"/>
                </a:lnTo>
                <a:lnTo>
                  <a:pt x="1074879" y="76125"/>
                </a:lnTo>
                <a:lnTo>
                  <a:pt x="1284801" y="77926"/>
                </a:lnTo>
                <a:lnTo>
                  <a:pt x="1471226" y="0"/>
                </a:lnTo>
                <a:lnTo>
                  <a:pt x="1755921" y="27372"/>
                </a:lnTo>
                <a:lnTo>
                  <a:pt x="1870001" y="75912"/>
                </a:lnTo>
                <a:lnTo>
                  <a:pt x="2115003" y="139626"/>
                </a:lnTo>
                <a:lnTo>
                  <a:pt x="2344042" y="189360"/>
                </a:lnTo>
                <a:lnTo>
                  <a:pt x="2452987" y="274061"/>
                </a:lnTo>
                <a:lnTo>
                  <a:pt x="2612274" y="405929"/>
                </a:lnTo>
                <a:lnTo>
                  <a:pt x="2721314" y="485087"/>
                </a:lnTo>
                <a:lnTo>
                  <a:pt x="2872719" y="610484"/>
                </a:lnTo>
                <a:lnTo>
                  <a:pt x="2912121" y="731606"/>
                </a:lnTo>
                <a:lnTo>
                  <a:pt x="2987338" y="905722"/>
                </a:lnTo>
                <a:lnTo>
                  <a:pt x="3018650" y="1029931"/>
                </a:lnTo>
              </a:path>
            </a:pathLst>
          </a:custGeom>
          <a:noFill/>
          <a:ln w="34925" cap="rnd">
            <a:solidFill>
              <a:srgbClr val="FF4D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7606" y="5531344"/>
            <a:ext cx="5256466" cy="11667"/>
          </a:xfrm>
          <a:custGeom>
            <a:avLst/>
            <a:gdLst/>
            <a:ahLst/>
            <a:cxnLst/>
            <a:rect l="l" t="t" r="r" b="b"/>
            <a:pathLst>
              <a:path w="5256466" h="11667">
                <a:moveTo>
                  <a:pt x="0" y="6200"/>
                </a:moveTo>
                <a:lnTo>
                  <a:pt x="1782994" y="8289"/>
                </a:lnTo>
                <a:lnTo>
                  <a:pt x="3528761" y="0"/>
                </a:lnTo>
                <a:lnTo>
                  <a:pt x="5256466" y="11667"/>
                </a:lnTo>
              </a:path>
            </a:pathLst>
          </a:custGeom>
          <a:noFill/>
          <a:ln w="28575" cap="rnd">
            <a:solidFill>
              <a:srgbClr val="FF4D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8549640" y="5478068"/>
            <a:ext cx="137160" cy="115215"/>
          </a:xfrm>
          <a:custGeom>
            <a:avLst/>
            <a:gdLst/>
            <a:ahLst/>
            <a:cxnLst/>
            <a:rect l="l" t="t" r="r" b="b"/>
            <a:pathLst>
              <a:path w="137160" h="115215">
                <a:moveTo>
                  <a:pt x="137160" y="57608"/>
                </a:moveTo>
                <a:lnTo>
                  <a:pt x="0" y="115215"/>
                </a:lnTo>
                <a:lnTo>
                  <a:pt x="0" y="0"/>
                </a:lnTo>
                <a:close/>
              </a:path>
            </a:pathLst>
          </a:cu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5188204"/>
            <a:ext cx="46542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FF4D00"/>
                </a:solidFill>
                <a:latin typeface="Inter"/>
              </a:rPr>
              <a:t>most people jump straight to 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1338560" cy="1022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400" b="0" i="0" spc="-140">
                <a:solidFill>
                  <a:srgbClr val="14110F"/>
                </a:solidFill>
                <a:latin typeface="Archivo Black"/>
              </a:rPr>
              <a:t>PARETO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27935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3A342E"/>
                </a:solidFill>
                <a:latin typeface="Inter"/>
              </a:rPr>
              <a:t>eighty percent of users only use twenty percent of the features.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55923"/>
            <a:ext cx="4937760" cy="1816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3200" b="0" i="0" spc="-140">
                <a:solidFill>
                  <a:srgbClr val="14110F"/>
                </a:solidFill>
                <a:latin typeface="Archivo Black"/>
              </a:rPr>
              <a:t>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9088" y="3455923"/>
            <a:ext cx="4937760" cy="1816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3200" b="0" i="0" spc="-140">
                <a:solidFill>
                  <a:srgbClr val="14110F"/>
                </a:solidFill>
                <a:latin typeface="Archivo Black"/>
              </a:rPr>
              <a:t>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1571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000"/>
              </a:lnSpc>
            </a:pPr>
            <a:r>
              <a:rPr sz="1700" b="0" i="1">
                <a:solidFill>
                  <a:srgbClr val="6E655C"/>
                </a:solidFill>
                <a:latin typeface="Inter"/>
              </a:rPr>
              <a:t>of the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5211571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000"/>
              </a:lnSpc>
            </a:pPr>
            <a:r>
              <a:rPr sz="1700" b="0" i="1">
                <a:solidFill>
                  <a:srgbClr val="6E655C"/>
                </a:solidFill>
                <a:latin typeface="Inter"/>
              </a:rPr>
              <a:t>of the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053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E655C"/>
                </a:solidFill>
                <a:latin typeface="Inter"/>
              </a:rPr>
              <a:t>build the few things everyone needs — then iterate once you have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1338560" cy="998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200" b="0" i="0" spc="-140">
                <a:solidFill>
                  <a:srgbClr val="14110F"/>
                </a:solidFill>
                <a:latin typeface="Archivo Black"/>
              </a:rPr>
              <a:t>BUILD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04567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3A342E"/>
                </a:solidFill>
                <a:latin typeface="Inter"/>
              </a:rPr>
              <a:t>the plan of record — the order you actually build 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7433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4D00"/>
                </a:solidFill>
                <a:latin typeface="Archivo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2819145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 u="none">
                <a:solidFill>
                  <a:srgbClr val="14110F"/>
                </a:solidFill>
                <a:latin typeface="Archivo Black"/>
              </a:rPr>
              <a:t>SETUP </a:t>
            </a:r>
            <a:r>
              <a:rPr sz="1400" b="0" i="0" u="none">
                <a:solidFill>
                  <a:srgbClr val="6E655C"/>
                </a:solidFill>
                <a:latin typeface="Inter"/>
              </a:rPr>
              <a:t>— architecture prompt, project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39769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4D00"/>
                </a:solidFill>
                <a:latin typeface="Archivo Black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3221481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 u="none">
                <a:solidFill>
                  <a:srgbClr val="14110F"/>
                </a:solidFill>
                <a:latin typeface="Archivo Black"/>
              </a:rPr>
              <a:t>DATABASE </a:t>
            </a:r>
            <a:r>
              <a:rPr sz="1400" b="0" i="0" u="none">
                <a:solidFill>
                  <a:srgbClr val="6E655C"/>
                </a:solidFill>
                <a:latin typeface="Inter"/>
              </a:rPr>
              <a:t>— link it in Bolt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42105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4D00"/>
                </a:solidFill>
                <a:latin typeface="Archivo Black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3623817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 u="none">
                <a:solidFill>
                  <a:srgbClr val="14110F"/>
                </a:solidFill>
                <a:latin typeface="Archivo Black"/>
              </a:rPr>
              <a:t>BASIC USER INTERFACE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44441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4D00"/>
                </a:solidFill>
                <a:latin typeface="Archivo Black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4026154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 u="none">
                <a:solidFill>
                  <a:srgbClr val="14110F"/>
                </a:solidFill>
                <a:latin typeface="Archivo Black"/>
              </a:rPr>
              <a:t>TEST THE TASK CRUD </a:t>
            </a:r>
            <a:r>
              <a:rPr sz="1400" b="0" i="0" u="none">
                <a:solidFill>
                  <a:srgbClr val="6E655C"/>
                </a:solidFill>
                <a:latin typeface="Inter"/>
              </a:rPr>
              <a:t>— the gate before anything else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46778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4D00"/>
                </a:solidFill>
                <a:latin typeface="Archivo Black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442849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 u="none">
                <a:solidFill>
                  <a:srgbClr val="14110F"/>
                </a:solidFill>
                <a:latin typeface="Archivo Black"/>
              </a:rPr>
              <a:t>AI INTEGRATION </a:t>
            </a:r>
            <a:r>
              <a:rPr sz="1400" b="0" i="0" u="none">
                <a:solidFill>
                  <a:srgbClr val="6E655C"/>
                </a:solidFill>
                <a:latin typeface="Inter"/>
              </a:rPr>
              <a:t>— task 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9114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4D00"/>
                </a:solidFill>
                <a:latin typeface="Archivo Black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830826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 u="none">
                <a:solidFill>
                  <a:srgbClr val="14110F"/>
                </a:solidFill>
                <a:latin typeface="Archivo Black"/>
              </a:rPr>
              <a:t>TEAM FEATURES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51450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4D00"/>
                </a:solidFill>
                <a:latin typeface="Archivo Black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523316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 u="none">
                <a:solidFill>
                  <a:srgbClr val="14110F"/>
                </a:solidFill>
                <a:latin typeface="Archivo Black"/>
              </a:rPr>
              <a:t>AUTHENTICATION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53786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4D00"/>
                </a:solidFill>
                <a:latin typeface="Archivo Black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635498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 u="none">
                <a:solidFill>
                  <a:srgbClr val="14110F"/>
                </a:solidFill>
                <a:latin typeface="Archivo Black"/>
              </a:rPr>
              <a:t>DESIGN PASS, LANDING PAGE, PUBLISH, STRIPE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022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400" b="0" i="0" spc="-140">
                <a:solidFill>
                  <a:srgbClr val="14110F"/>
                </a:solidFill>
                <a:latin typeface="Archivo Black"/>
              </a:rPr>
              <a:t>PRD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36495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 spc="220">
                <a:solidFill>
                  <a:srgbClr val="A99E93"/>
                </a:solidFill>
                <a:latin typeface="Inter"/>
              </a:rPr>
              <a:t>PRODUCT REQUIREMENTS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11984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3A342E"/>
                </a:solidFill>
                <a:latin typeface="Inter"/>
              </a:rPr>
              <a:t>AI's language is prompting, and AI likes clear, detailed, structured prompts.</a:t>
            </a:r>
          </a:p>
        </p:txBody>
      </p:sp>
      <p:sp>
        <p:nvSpPr>
          <p:cNvPr id="5" name="Freeform 4"/>
          <p:cNvSpPr/>
          <p:nvPr/>
        </p:nvSpPr>
        <p:spPr>
          <a:xfrm>
            <a:off x="812625" y="3503999"/>
            <a:ext cx="3174568" cy="2499623"/>
          </a:xfrm>
          <a:custGeom>
            <a:avLst/>
            <a:gdLst/>
            <a:ahLst/>
            <a:cxnLst/>
            <a:rect l="l" t="t" r="r" b="b"/>
            <a:pathLst>
              <a:path w="3174568" h="2499623">
                <a:moveTo>
                  <a:pt x="1557" y="2309868"/>
                </a:moveTo>
                <a:lnTo>
                  <a:pt x="22521" y="1898585"/>
                </a:lnTo>
                <a:lnTo>
                  <a:pt x="13723" y="1462896"/>
                </a:lnTo>
                <a:lnTo>
                  <a:pt x="0" y="1041554"/>
                </a:lnTo>
                <a:lnTo>
                  <a:pt x="10104" y="603739"/>
                </a:lnTo>
                <a:lnTo>
                  <a:pt x="18900" y="196845"/>
                </a:lnTo>
                <a:lnTo>
                  <a:pt x="15652" y="116759"/>
                </a:lnTo>
                <a:lnTo>
                  <a:pt x="46693" y="93574"/>
                </a:lnTo>
                <a:lnTo>
                  <a:pt x="35140" y="53949"/>
                </a:lnTo>
                <a:lnTo>
                  <a:pt x="74614" y="35426"/>
                </a:lnTo>
                <a:lnTo>
                  <a:pt x="116173" y="25051"/>
                </a:lnTo>
                <a:lnTo>
                  <a:pt x="182116" y="10083"/>
                </a:lnTo>
                <a:lnTo>
                  <a:pt x="741669" y="11545"/>
                </a:lnTo>
                <a:lnTo>
                  <a:pt x="1310262" y="8710"/>
                </a:lnTo>
                <a:lnTo>
                  <a:pt x="1867653" y="1631"/>
                </a:lnTo>
                <a:lnTo>
                  <a:pt x="2446398" y="0"/>
                </a:lnTo>
                <a:lnTo>
                  <a:pt x="2993564" y="13257"/>
                </a:lnTo>
                <a:lnTo>
                  <a:pt x="3041665" y="30769"/>
                </a:lnTo>
                <a:lnTo>
                  <a:pt x="3069115" y="21455"/>
                </a:lnTo>
                <a:lnTo>
                  <a:pt x="3121581" y="59035"/>
                </a:lnTo>
                <a:lnTo>
                  <a:pt x="3141557" y="89155"/>
                </a:lnTo>
                <a:lnTo>
                  <a:pt x="3152874" y="123778"/>
                </a:lnTo>
                <a:lnTo>
                  <a:pt x="3159256" y="192647"/>
                </a:lnTo>
                <a:lnTo>
                  <a:pt x="3151907" y="605347"/>
                </a:lnTo>
                <a:lnTo>
                  <a:pt x="3145401" y="1019318"/>
                </a:lnTo>
                <a:lnTo>
                  <a:pt x="3147727" y="1462328"/>
                </a:lnTo>
                <a:lnTo>
                  <a:pt x="3174568" y="1883041"/>
                </a:lnTo>
                <a:lnTo>
                  <a:pt x="3147745" y="2306570"/>
                </a:lnTo>
                <a:lnTo>
                  <a:pt x="3170940" y="2360107"/>
                </a:lnTo>
                <a:lnTo>
                  <a:pt x="3134034" y="2415819"/>
                </a:lnTo>
                <a:lnTo>
                  <a:pt x="3125498" y="2448363"/>
                </a:lnTo>
                <a:lnTo>
                  <a:pt x="3083034" y="2460014"/>
                </a:lnTo>
                <a:lnTo>
                  <a:pt x="3055374" y="2497761"/>
                </a:lnTo>
                <a:lnTo>
                  <a:pt x="2985408" y="2479492"/>
                </a:lnTo>
                <a:lnTo>
                  <a:pt x="2427305" y="2499623"/>
                </a:lnTo>
                <a:lnTo>
                  <a:pt x="1871909" y="2480759"/>
                </a:lnTo>
                <a:lnTo>
                  <a:pt x="1308470" y="2475958"/>
                </a:lnTo>
                <a:lnTo>
                  <a:pt x="720413" y="2490937"/>
                </a:lnTo>
                <a:lnTo>
                  <a:pt x="178751" y="2485199"/>
                </a:lnTo>
                <a:lnTo>
                  <a:pt x="131951" y="2486858"/>
                </a:lnTo>
                <a:lnTo>
                  <a:pt x="68980" y="2466929"/>
                </a:lnTo>
                <a:lnTo>
                  <a:pt x="60242" y="2441897"/>
                </a:lnTo>
                <a:lnTo>
                  <a:pt x="35168" y="2401266"/>
                </a:lnTo>
                <a:lnTo>
                  <a:pt x="28987" y="2376061"/>
                </a:lnTo>
                <a:close/>
              </a:path>
            </a:pathLst>
          </a:custGeom>
          <a:solidFill>
            <a:srgbClr val="FFFFFF"/>
          </a:solidFill>
          <a:ln w="2857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368300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FF4D00"/>
                </a:solidFill>
                <a:latin typeface="Archivo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4012184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spc="-40">
                <a:solidFill>
                  <a:srgbClr val="14110F"/>
                </a:solidFill>
                <a:latin typeface="Archivo Black"/>
              </a:rPr>
              <a:t>RAW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4396232"/>
            <a:ext cx="26700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1">
                <a:solidFill>
                  <a:srgbClr val="6E655C"/>
                </a:solidFill>
                <a:latin typeface="Inter"/>
              </a:rPr>
              <a:t>where newbies live — “build me an app”</a:t>
            </a:r>
          </a:p>
        </p:txBody>
      </p:sp>
      <p:sp>
        <p:nvSpPr>
          <p:cNvPr id="9" name="Freeform 8"/>
          <p:cNvSpPr/>
          <p:nvPr/>
        </p:nvSpPr>
        <p:spPr>
          <a:xfrm>
            <a:off x="4499867" y="3509204"/>
            <a:ext cx="3177083" cy="2495531"/>
          </a:xfrm>
          <a:custGeom>
            <a:avLst/>
            <a:gdLst/>
            <a:ahLst/>
            <a:cxnLst/>
            <a:rect l="l" t="t" r="r" b="b"/>
            <a:pathLst>
              <a:path w="3177083" h="2495531">
                <a:moveTo>
                  <a:pt x="1451" y="2313735"/>
                </a:moveTo>
                <a:lnTo>
                  <a:pt x="15863" y="1889609"/>
                </a:lnTo>
                <a:lnTo>
                  <a:pt x="7521" y="1463038"/>
                </a:lnTo>
                <a:lnTo>
                  <a:pt x="6492" y="1024807"/>
                </a:lnTo>
                <a:lnTo>
                  <a:pt x="0" y="596468"/>
                </a:lnTo>
                <a:lnTo>
                  <a:pt x="9597" y="168853"/>
                </a:lnTo>
                <a:lnTo>
                  <a:pt x="33533" y="135747"/>
                </a:lnTo>
                <a:lnTo>
                  <a:pt x="23949" y="86462"/>
                </a:lnTo>
                <a:lnTo>
                  <a:pt x="59808" y="59913"/>
                </a:lnTo>
                <a:lnTo>
                  <a:pt x="93051" y="36676"/>
                </a:lnTo>
                <a:lnTo>
                  <a:pt x="133874" y="0"/>
                </a:lnTo>
                <a:lnTo>
                  <a:pt x="175616" y="6482"/>
                </a:lnTo>
                <a:lnTo>
                  <a:pt x="751027" y="5524"/>
                </a:lnTo>
                <a:lnTo>
                  <a:pt x="1310707" y="22542"/>
                </a:lnTo>
                <a:lnTo>
                  <a:pt x="1878558" y="6017"/>
                </a:lnTo>
                <a:lnTo>
                  <a:pt x="2440211" y="3561"/>
                </a:lnTo>
                <a:lnTo>
                  <a:pt x="2990502" y="440"/>
                </a:lnTo>
                <a:lnTo>
                  <a:pt x="3044346" y="17084"/>
                </a:lnTo>
                <a:lnTo>
                  <a:pt x="3104022" y="29189"/>
                </a:lnTo>
                <a:lnTo>
                  <a:pt x="3119249" y="49850"/>
                </a:lnTo>
                <a:lnTo>
                  <a:pt x="3146627" y="70639"/>
                </a:lnTo>
                <a:lnTo>
                  <a:pt x="3150197" y="134463"/>
                </a:lnTo>
                <a:lnTo>
                  <a:pt x="3168128" y="166556"/>
                </a:lnTo>
                <a:lnTo>
                  <a:pt x="3156539" y="587814"/>
                </a:lnTo>
                <a:lnTo>
                  <a:pt x="3177083" y="1039587"/>
                </a:lnTo>
                <a:lnTo>
                  <a:pt x="3160837" y="1448935"/>
                </a:lnTo>
                <a:lnTo>
                  <a:pt x="3177015" y="1894418"/>
                </a:lnTo>
                <a:lnTo>
                  <a:pt x="3171385" y="2303492"/>
                </a:lnTo>
                <a:lnTo>
                  <a:pt x="3151993" y="2355609"/>
                </a:lnTo>
                <a:lnTo>
                  <a:pt x="3147000" y="2407528"/>
                </a:lnTo>
                <a:lnTo>
                  <a:pt x="3112589" y="2430139"/>
                </a:lnTo>
                <a:lnTo>
                  <a:pt x="3085397" y="2454436"/>
                </a:lnTo>
                <a:lnTo>
                  <a:pt x="3047475" y="2455988"/>
                </a:lnTo>
                <a:lnTo>
                  <a:pt x="2997776" y="2477673"/>
                </a:lnTo>
                <a:lnTo>
                  <a:pt x="2448817" y="2495531"/>
                </a:lnTo>
                <a:lnTo>
                  <a:pt x="1866528" y="2466415"/>
                </a:lnTo>
                <a:lnTo>
                  <a:pt x="1321870" y="2467476"/>
                </a:lnTo>
                <a:lnTo>
                  <a:pt x="747530" y="2481286"/>
                </a:lnTo>
                <a:lnTo>
                  <a:pt x="179680" y="2468181"/>
                </a:lnTo>
                <a:lnTo>
                  <a:pt x="120368" y="2466872"/>
                </a:lnTo>
                <a:lnTo>
                  <a:pt x="90648" y="2467195"/>
                </a:lnTo>
                <a:lnTo>
                  <a:pt x="58723" y="2442488"/>
                </a:lnTo>
                <a:lnTo>
                  <a:pt x="24370" y="2404964"/>
                </a:lnTo>
                <a:lnTo>
                  <a:pt x="23990" y="2364469"/>
                </a:lnTo>
                <a:close/>
              </a:path>
            </a:pathLst>
          </a:custGeom>
          <a:solidFill>
            <a:srgbClr val="FFFFFF"/>
          </a:solidFill>
          <a:ln w="2857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68300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FF4D00"/>
                </a:solidFill>
                <a:latin typeface="Archivo Blac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012184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spc="-40">
                <a:solidFill>
                  <a:srgbClr val="14110F"/>
                </a:solidFill>
                <a:latin typeface="Archivo Black"/>
              </a:rPr>
              <a:t>BASIC PRD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396232"/>
            <a:ext cx="2670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99E93"/>
                </a:solidFill>
                <a:latin typeface="Inter"/>
              </a:rPr>
              <a:t>project requirements 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615687"/>
            <a:ext cx="26700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· task CRUD operations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· user authentication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· team collaboration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· real-time updates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· kanban board view</a:t>
            </a:r>
          </a:p>
        </p:txBody>
      </p:sp>
      <p:sp>
        <p:nvSpPr>
          <p:cNvPr id="14" name="Freeform 13"/>
          <p:cNvSpPr/>
          <p:nvPr/>
        </p:nvSpPr>
        <p:spPr>
          <a:xfrm>
            <a:off x="4060556" y="4474449"/>
            <a:ext cx="350808" cy="6107"/>
          </a:xfrm>
          <a:custGeom>
            <a:avLst/>
            <a:gdLst/>
            <a:ahLst/>
            <a:cxnLst/>
            <a:rect l="l" t="t" r="r" b="b"/>
            <a:pathLst>
              <a:path w="350808" h="6107">
                <a:moveTo>
                  <a:pt x="0" y="3624"/>
                </a:moveTo>
                <a:lnTo>
                  <a:pt x="126637" y="0"/>
                </a:lnTo>
                <a:lnTo>
                  <a:pt x="236123" y="6107"/>
                </a:lnTo>
                <a:lnTo>
                  <a:pt x="350808" y="2116"/>
                </a:lnTo>
              </a:path>
            </a:pathLst>
          </a:custGeom>
          <a:noFill/>
          <a:ln w="2857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4261104" y="4417080"/>
            <a:ext cx="146304" cy="122895"/>
          </a:xfrm>
          <a:custGeom>
            <a:avLst/>
            <a:gdLst/>
            <a:ahLst/>
            <a:cxnLst/>
            <a:rect l="l" t="t" r="r" b="b"/>
            <a:pathLst>
              <a:path w="146304" h="122895">
                <a:moveTo>
                  <a:pt x="146304" y="61448"/>
                </a:moveTo>
                <a:lnTo>
                  <a:pt x="0" y="122895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198239" y="3514345"/>
            <a:ext cx="3174741" cy="2475985"/>
          </a:xfrm>
          <a:custGeom>
            <a:avLst/>
            <a:gdLst/>
            <a:ahLst/>
            <a:cxnLst/>
            <a:rect l="l" t="t" r="r" b="b"/>
            <a:pathLst>
              <a:path w="3174741" h="2475985">
                <a:moveTo>
                  <a:pt x="18669" y="2290650"/>
                </a:moveTo>
                <a:lnTo>
                  <a:pt x="3938" y="1874760"/>
                </a:lnTo>
                <a:lnTo>
                  <a:pt x="7667" y="1438090"/>
                </a:lnTo>
                <a:lnTo>
                  <a:pt x="0" y="1030418"/>
                </a:lnTo>
                <a:lnTo>
                  <a:pt x="26518" y="591455"/>
                </a:lnTo>
                <a:lnTo>
                  <a:pt x="15717" y="162785"/>
                </a:lnTo>
                <a:lnTo>
                  <a:pt x="18161" y="100101"/>
                </a:lnTo>
                <a:lnTo>
                  <a:pt x="40816" y="89491"/>
                </a:lnTo>
                <a:lnTo>
                  <a:pt x="44022" y="64268"/>
                </a:lnTo>
                <a:lnTo>
                  <a:pt x="89873" y="19654"/>
                </a:lnTo>
                <a:lnTo>
                  <a:pt x="135386" y="5306"/>
                </a:lnTo>
                <a:lnTo>
                  <a:pt x="163532" y="12021"/>
                </a:lnTo>
                <a:lnTo>
                  <a:pt x="746565" y="8429"/>
                </a:lnTo>
                <a:lnTo>
                  <a:pt x="1308045" y="16541"/>
                </a:lnTo>
                <a:lnTo>
                  <a:pt x="1863323" y="11400"/>
                </a:lnTo>
                <a:lnTo>
                  <a:pt x="2422116" y="14490"/>
                </a:lnTo>
                <a:lnTo>
                  <a:pt x="3003032" y="0"/>
                </a:lnTo>
                <a:lnTo>
                  <a:pt x="3049300" y="15786"/>
                </a:lnTo>
                <a:lnTo>
                  <a:pt x="3085961" y="15016"/>
                </a:lnTo>
                <a:lnTo>
                  <a:pt x="3116512" y="61530"/>
                </a:lnTo>
                <a:lnTo>
                  <a:pt x="3129972" y="92157"/>
                </a:lnTo>
                <a:lnTo>
                  <a:pt x="3144059" y="112846"/>
                </a:lnTo>
                <a:lnTo>
                  <a:pt x="3150978" y="157341"/>
                </a:lnTo>
                <a:lnTo>
                  <a:pt x="3157153" y="603828"/>
                </a:lnTo>
                <a:lnTo>
                  <a:pt x="3168579" y="1034491"/>
                </a:lnTo>
                <a:lnTo>
                  <a:pt x="3146227" y="1458790"/>
                </a:lnTo>
                <a:lnTo>
                  <a:pt x="3166992" y="1895144"/>
                </a:lnTo>
                <a:lnTo>
                  <a:pt x="3174741" y="2289690"/>
                </a:lnTo>
                <a:lnTo>
                  <a:pt x="3156726" y="2348734"/>
                </a:lnTo>
                <a:lnTo>
                  <a:pt x="3155608" y="2411107"/>
                </a:lnTo>
                <a:lnTo>
                  <a:pt x="3107091" y="2436253"/>
                </a:lnTo>
                <a:lnTo>
                  <a:pt x="3083755" y="2452292"/>
                </a:lnTo>
                <a:lnTo>
                  <a:pt x="3033406" y="2456959"/>
                </a:lnTo>
                <a:lnTo>
                  <a:pt x="2989073" y="2475594"/>
                </a:lnTo>
                <a:lnTo>
                  <a:pt x="2430123" y="2465311"/>
                </a:lnTo>
                <a:lnTo>
                  <a:pt x="1878800" y="2475985"/>
                </a:lnTo>
                <a:lnTo>
                  <a:pt x="1311334" y="2466767"/>
                </a:lnTo>
                <a:lnTo>
                  <a:pt x="759969" y="2475602"/>
                </a:lnTo>
                <a:lnTo>
                  <a:pt x="173132" y="2460221"/>
                </a:lnTo>
                <a:lnTo>
                  <a:pt x="121197" y="2465914"/>
                </a:lnTo>
                <a:lnTo>
                  <a:pt x="84385" y="2451158"/>
                </a:lnTo>
                <a:lnTo>
                  <a:pt x="49263" y="2417858"/>
                </a:lnTo>
                <a:lnTo>
                  <a:pt x="33012" y="2389204"/>
                </a:lnTo>
                <a:lnTo>
                  <a:pt x="30815" y="2348635"/>
                </a:lnTo>
                <a:close/>
              </a:path>
            </a:pathLst>
          </a:custGeom>
          <a:solidFill>
            <a:srgbClr val="FFFFFF"/>
          </a:solidFill>
          <a:ln w="2857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368300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FF4D00"/>
                </a:solidFill>
                <a:latin typeface="Archivo Black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4012184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spc="-40">
                <a:solidFill>
                  <a:srgbClr val="14110F"/>
                </a:solidFill>
                <a:latin typeface="Archivo Black"/>
              </a:rPr>
              <a:t>PLATFORM-OPTIMIZED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4396232"/>
            <a:ext cx="2670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99E93"/>
                </a:solidFill>
                <a:latin typeface="Inter"/>
              </a:rPr>
              <a:t>build a task management app: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4615687"/>
            <a:ext cx="26700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✓ React with TypeScript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✓ Tailwind CSS styling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✓ Supabase auth &amp; real-time DB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✓ shadcn/ui components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✓ Drag-and-drop with dnd-kit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✓ Responsive mobile-first design</a:t>
            </a:r>
          </a:p>
        </p:txBody>
      </p:sp>
      <p:sp>
        <p:nvSpPr>
          <p:cNvPr id="21" name="Freeform 20"/>
          <p:cNvSpPr/>
          <p:nvPr/>
        </p:nvSpPr>
        <p:spPr>
          <a:xfrm>
            <a:off x="7756268" y="4475032"/>
            <a:ext cx="340624" cy="3801"/>
          </a:xfrm>
          <a:custGeom>
            <a:avLst/>
            <a:gdLst/>
            <a:ahLst/>
            <a:cxnLst/>
            <a:rect l="l" t="t" r="r" b="b"/>
            <a:pathLst>
              <a:path w="340624" h="3801">
                <a:moveTo>
                  <a:pt x="0" y="714"/>
                </a:moveTo>
                <a:lnTo>
                  <a:pt x="119327" y="3801"/>
                </a:lnTo>
                <a:lnTo>
                  <a:pt x="233455" y="0"/>
                </a:lnTo>
                <a:lnTo>
                  <a:pt x="340624" y="3509"/>
                </a:lnTo>
              </a:path>
            </a:pathLst>
          </a:custGeom>
          <a:noFill/>
          <a:ln w="2857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7955280" y="4417080"/>
            <a:ext cx="146304" cy="122895"/>
          </a:xfrm>
          <a:custGeom>
            <a:avLst/>
            <a:gdLst/>
            <a:ahLst/>
            <a:cxnLst/>
            <a:rect l="l" t="t" r="r" b="b"/>
            <a:pathLst>
              <a:path w="146304" h="122895">
                <a:moveTo>
                  <a:pt x="146304" y="61448"/>
                </a:moveTo>
                <a:lnTo>
                  <a:pt x="0" y="122895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20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8000" b="0" i="0" spc="-140">
                <a:solidFill>
                  <a:srgbClr val="14110F"/>
                </a:solidFill>
                <a:latin typeface="Archivo Black"/>
              </a:rP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14880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3A342E"/>
                </a:solidFill>
                <a:latin typeface="Inter"/>
              </a:rPr>
              <a:t>a table with rows and columns, like an Excel or Google Sheet.</a:t>
            </a:r>
          </a:p>
        </p:txBody>
      </p:sp>
      <p:sp>
        <p:nvSpPr>
          <p:cNvPr id="4" name="Freeform 3"/>
          <p:cNvSpPr/>
          <p:nvPr/>
        </p:nvSpPr>
        <p:spPr>
          <a:xfrm>
            <a:off x="807850" y="3497754"/>
            <a:ext cx="3959520" cy="1812987"/>
          </a:xfrm>
          <a:custGeom>
            <a:avLst/>
            <a:gdLst/>
            <a:ahLst/>
            <a:cxnLst/>
            <a:rect l="l" t="t" r="r" b="b"/>
            <a:pathLst>
              <a:path w="3959520" h="1812987">
                <a:moveTo>
                  <a:pt x="0" y="1568923"/>
                </a:moveTo>
                <a:lnTo>
                  <a:pt x="33022" y="1286539"/>
                </a:lnTo>
                <a:lnTo>
                  <a:pt x="23405" y="1029834"/>
                </a:lnTo>
                <a:lnTo>
                  <a:pt x="11718" y="773470"/>
                </a:lnTo>
                <a:lnTo>
                  <a:pt x="6960" y="514333"/>
                </a:lnTo>
                <a:lnTo>
                  <a:pt x="5269" y="245816"/>
                </a:lnTo>
                <a:lnTo>
                  <a:pt x="15512" y="179367"/>
                </a:lnTo>
                <a:lnTo>
                  <a:pt x="44437" y="114429"/>
                </a:lnTo>
                <a:lnTo>
                  <a:pt x="66358" y="64086"/>
                </a:lnTo>
                <a:lnTo>
                  <a:pt x="122332" y="47319"/>
                </a:lnTo>
                <a:lnTo>
                  <a:pt x="181378" y="13480"/>
                </a:lnTo>
                <a:lnTo>
                  <a:pt x="244557" y="0"/>
                </a:lnTo>
                <a:lnTo>
                  <a:pt x="939776" y="18249"/>
                </a:lnTo>
                <a:lnTo>
                  <a:pt x="1625046" y="17593"/>
                </a:lnTo>
                <a:lnTo>
                  <a:pt x="2308130" y="8788"/>
                </a:lnTo>
                <a:lnTo>
                  <a:pt x="3013405" y="2988"/>
                </a:lnTo>
                <a:lnTo>
                  <a:pt x="3725426" y="15954"/>
                </a:lnTo>
                <a:lnTo>
                  <a:pt x="3782484" y="10519"/>
                </a:lnTo>
                <a:lnTo>
                  <a:pt x="3845821" y="30514"/>
                </a:lnTo>
                <a:lnTo>
                  <a:pt x="3889959" y="61281"/>
                </a:lnTo>
                <a:lnTo>
                  <a:pt x="3920047" y="131074"/>
                </a:lnTo>
                <a:lnTo>
                  <a:pt x="3948324" y="175854"/>
                </a:lnTo>
                <a:lnTo>
                  <a:pt x="3949933" y="262874"/>
                </a:lnTo>
                <a:lnTo>
                  <a:pt x="3954504" y="511961"/>
                </a:lnTo>
                <a:lnTo>
                  <a:pt x="3958504" y="780819"/>
                </a:lnTo>
                <a:lnTo>
                  <a:pt x="3954575" y="1031722"/>
                </a:lnTo>
                <a:lnTo>
                  <a:pt x="3959520" y="1289313"/>
                </a:lnTo>
                <a:lnTo>
                  <a:pt x="3939324" y="1563127"/>
                </a:lnTo>
                <a:lnTo>
                  <a:pt x="3937710" y="1623849"/>
                </a:lnTo>
                <a:lnTo>
                  <a:pt x="3927890" y="1685281"/>
                </a:lnTo>
                <a:lnTo>
                  <a:pt x="3872801" y="1742371"/>
                </a:lnTo>
                <a:lnTo>
                  <a:pt x="3822580" y="1768764"/>
                </a:lnTo>
                <a:lnTo>
                  <a:pt x="3782302" y="1799449"/>
                </a:lnTo>
                <a:lnTo>
                  <a:pt x="3705034" y="1795866"/>
                </a:lnTo>
                <a:lnTo>
                  <a:pt x="3012775" y="1812524"/>
                </a:lnTo>
                <a:lnTo>
                  <a:pt x="2312573" y="1805087"/>
                </a:lnTo>
                <a:lnTo>
                  <a:pt x="1629130" y="1812987"/>
                </a:lnTo>
                <a:lnTo>
                  <a:pt x="942705" y="1791498"/>
                </a:lnTo>
                <a:lnTo>
                  <a:pt x="244578" y="1802116"/>
                </a:lnTo>
                <a:lnTo>
                  <a:pt x="184209" y="1774194"/>
                </a:lnTo>
                <a:lnTo>
                  <a:pt x="118652" y="1772967"/>
                </a:lnTo>
                <a:lnTo>
                  <a:pt x="69794" y="1745032"/>
                </a:lnTo>
                <a:lnTo>
                  <a:pt x="42187" y="1684701"/>
                </a:lnTo>
                <a:lnTo>
                  <a:pt x="11271" y="1621537"/>
                </a:lnTo>
                <a:close/>
              </a:path>
            </a:pathLst>
          </a:custGeom>
          <a:solidFill>
            <a:srgbClr val="F7E9A0"/>
          </a:solidFill>
          <a:ln w="28575" cap="rnd">
            <a:solidFill>
              <a:srgbClr val="B08D2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66108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 spc="-30">
                <a:solidFill>
                  <a:srgbClr val="1B1B1B"/>
                </a:solidFill>
                <a:latin typeface="Archivo Black"/>
              </a:rPr>
              <a:t>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68443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50" b="0" i="1">
                <a:solidFill>
                  <a:srgbClr val="1B1B1B"/>
                </a:solidFill>
                <a:latin typeface="Inter"/>
              </a:rPr>
              <a:t>the pantry — where the ingredients are stored</a:t>
            </a:r>
          </a:p>
        </p:txBody>
      </p:sp>
      <p:sp>
        <p:nvSpPr>
          <p:cNvPr id="7" name="Freeform 6"/>
          <p:cNvSpPr/>
          <p:nvPr/>
        </p:nvSpPr>
        <p:spPr>
          <a:xfrm>
            <a:off x="5461259" y="3501444"/>
            <a:ext cx="5908201" cy="1700042"/>
          </a:xfrm>
          <a:custGeom>
            <a:avLst/>
            <a:gdLst/>
            <a:ahLst/>
            <a:cxnLst/>
            <a:rect l="l" t="t" r="r" b="b"/>
            <a:pathLst>
              <a:path w="5908201" h="1700042">
                <a:moveTo>
                  <a:pt x="0" y="1619738"/>
                </a:moveTo>
                <a:lnTo>
                  <a:pt x="8466" y="1319089"/>
                </a:lnTo>
                <a:lnTo>
                  <a:pt x="10654" y="1004270"/>
                </a:lnTo>
                <a:lnTo>
                  <a:pt x="15236" y="705939"/>
                </a:lnTo>
                <a:lnTo>
                  <a:pt x="10357" y="393734"/>
                </a:lnTo>
                <a:lnTo>
                  <a:pt x="4376" y="90043"/>
                </a:lnTo>
                <a:lnTo>
                  <a:pt x="16338" y="64841"/>
                </a:lnTo>
                <a:lnTo>
                  <a:pt x="10608" y="37990"/>
                </a:lnTo>
                <a:lnTo>
                  <a:pt x="24780" y="30194"/>
                </a:lnTo>
                <a:lnTo>
                  <a:pt x="36753" y="22776"/>
                </a:lnTo>
                <a:lnTo>
                  <a:pt x="56021" y="7610"/>
                </a:lnTo>
                <a:lnTo>
                  <a:pt x="72241" y="3985"/>
                </a:lnTo>
                <a:lnTo>
                  <a:pt x="1233301" y="6919"/>
                </a:lnTo>
                <a:lnTo>
                  <a:pt x="2385318" y="0"/>
                </a:lnTo>
                <a:lnTo>
                  <a:pt x="3533767" y="5161"/>
                </a:lnTo>
                <a:lnTo>
                  <a:pt x="4679727" y="9795"/>
                </a:lnTo>
                <a:lnTo>
                  <a:pt x="5829561" y="12200"/>
                </a:lnTo>
                <a:lnTo>
                  <a:pt x="5849782" y="11700"/>
                </a:lnTo>
                <a:lnTo>
                  <a:pt x="5871389" y="22096"/>
                </a:lnTo>
                <a:lnTo>
                  <a:pt x="5878283" y="31541"/>
                </a:lnTo>
                <a:lnTo>
                  <a:pt x="5897416" y="48806"/>
                </a:lnTo>
                <a:lnTo>
                  <a:pt x="5907529" y="67105"/>
                </a:lnTo>
                <a:lnTo>
                  <a:pt x="5908201" y="78973"/>
                </a:lnTo>
                <a:lnTo>
                  <a:pt x="5897462" y="396834"/>
                </a:lnTo>
                <a:lnTo>
                  <a:pt x="5904061" y="698411"/>
                </a:lnTo>
                <a:lnTo>
                  <a:pt x="5900746" y="1002676"/>
                </a:lnTo>
                <a:lnTo>
                  <a:pt x="5901556" y="1312030"/>
                </a:lnTo>
                <a:lnTo>
                  <a:pt x="5901377" y="1620959"/>
                </a:lnTo>
                <a:lnTo>
                  <a:pt x="5904950" y="1648408"/>
                </a:lnTo>
                <a:lnTo>
                  <a:pt x="5895221" y="1666648"/>
                </a:lnTo>
                <a:lnTo>
                  <a:pt x="5885097" y="1675296"/>
                </a:lnTo>
                <a:lnTo>
                  <a:pt x="5875876" y="1680305"/>
                </a:lnTo>
                <a:lnTo>
                  <a:pt x="5847206" y="1684139"/>
                </a:lnTo>
                <a:lnTo>
                  <a:pt x="5835319" y="1691900"/>
                </a:lnTo>
                <a:lnTo>
                  <a:pt x="4681582" y="1689546"/>
                </a:lnTo>
                <a:lnTo>
                  <a:pt x="3529354" y="1684342"/>
                </a:lnTo>
                <a:lnTo>
                  <a:pt x="2387350" y="1688358"/>
                </a:lnTo>
                <a:lnTo>
                  <a:pt x="1233309" y="1692074"/>
                </a:lnTo>
                <a:lnTo>
                  <a:pt x="70297" y="1700042"/>
                </a:lnTo>
                <a:lnTo>
                  <a:pt x="56904" y="1693868"/>
                </a:lnTo>
                <a:lnTo>
                  <a:pt x="36479" y="1685680"/>
                </a:lnTo>
                <a:lnTo>
                  <a:pt x="23151" y="1679596"/>
                </a:lnTo>
                <a:lnTo>
                  <a:pt x="5443" y="1660353"/>
                </a:lnTo>
                <a:lnTo>
                  <a:pt x="17561" y="1644406"/>
                </a:lnTo>
                <a:close/>
              </a:path>
            </a:pathLst>
          </a:custGeom>
          <a:solidFill>
            <a:srgbClr val="FFFFFF"/>
          </a:solidFill>
          <a:ln w="2540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5524012" y="3510086"/>
            <a:ext cx="5783981" cy="5156"/>
          </a:xfrm>
          <a:custGeom>
            <a:avLst/>
            <a:gdLst/>
            <a:ahLst/>
            <a:cxnLst/>
            <a:rect l="l" t="t" r="r" b="b"/>
            <a:pathLst>
              <a:path w="5783981" h="5156">
                <a:moveTo>
                  <a:pt x="0" y="5156"/>
                </a:moveTo>
                <a:lnTo>
                  <a:pt x="5783981" y="0"/>
                </a:lnTo>
              </a:path>
            </a:pathLst>
          </a:custGeom>
          <a:noFill/>
          <a:ln w="2540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5526100" y="3934419"/>
            <a:ext cx="5785752" cy="1576"/>
          </a:xfrm>
          <a:custGeom>
            <a:avLst/>
            <a:gdLst/>
            <a:ahLst/>
            <a:cxnLst/>
            <a:rect l="l" t="t" r="r" b="b"/>
            <a:pathLst>
              <a:path w="5785752" h="1576">
                <a:moveTo>
                  <a:pt x="0" y="1576"/>
                </a:moveTo>
                <a:lnTo>
                  <a:pt x="5785752" y="0"/>
                </a:lnTo>
              </a:path>
            </a:pathLst>
          </a:custGeom>
          <a:noFill/>
          <a:ln w="2032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5523193" y="4352970"/>
            <a:ext cx="5787939" cy="5912"/>
          </a:xfrm>
          <a:custGeom>
            <a:avLst/>
            <a:gdLst/>
            <a:ahLst/>
            <a:cxnLst/>
            <a:rect l="l" t="t" r="r" b="b"/>
            <a:pathLst>
              <a:path w="5787939" h="5912">
                <a:moveTo>
                  <a:pt x="0" y="0"/>
                </a:moveTo>
                <a:lnTo>
                  <a:pt x="5787939" y="5912"/>
                </a:lnTo>
              </a:path>
            </a:pathLst>
          </a:custGeom>
          <a:noFill/>
          <a:ln w="2032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5529382" y="4769316"/>
            <a:ext cx="5790176" cy="5651"/>
          </a:xfrm>
          <a:custGeom>
            <a:avLst/>
            <a:gdLst/>
            <a:ahLst/>
            <a:cxnLst/>
            <a:rect l="l" t="t" r="r" b="b"/>
            <a:pathLst>
              <a:path w="5790176" h="5651">
                <a:moveTo>
                  <a:pt x="0" y="0"/>
                </a:moveTo>
                <a:lnTo>
                  <a:pt x="5790176" y="5651"/>
                </a:lnTo>
              </a:path>
            </a:pathLst>
          </a:custGeom>
          <a:noFill/>
          <a:ln w="2032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7382963" y="3565937"/>
            <a:ext cx="9685" cy="1574295"/>
          </a:xfrm>
          <a:custGeom>
            <a:avLst/>
            <a:gdLst/>
            <a:ahLst/>
            <a:cxnLst/>
            <a:rect l="l" t="t" r="r" b="b"/>
            <a:pathLst>
              <a:path w="9685" h="1574295">
                <a:moveTo>
                  <a:pt x="9685" y="0"/>
                </a:moveTo>
                <a:lnTo>
                  <a:pt x="0" y="1574295"/>
                </a:lnTo>
              </a:path>
            </a:pathLst>
          </a:custGeom>
          <a:noFill/>
          <a:ln w="1778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713697" y="3567455"/>
            <a:ext cx="715" cy="1575767"/>
          </a:xfrm>
          <a:custGeom>
            <a:avLst/>
            <a:gdLst/>
            <a:ahLst/>
            <a:cxnLst/>
            <a:rect l="l" t="t" r="r" b="b"/>
            <a:pathLst>
              <a:path w="715" h="1575767">
                <a:moveTo>
                  <a:pt x="715" y="0"/>
                </a:moveTo>
                <a:lnTo>
                  <a:pt x="0" y="1575767"/>
                </a:lnTo>
              </a:path>
            </a:pathLst>
          </a:custGeom>
          <a:noFill/>
          <a:ln w="1778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14416" y="3512312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1" i="0" spc="100">
                <a:solidFill>
                  <a:srgbClr val="1B1B1B"/>
                </a:solidFill>
                <a:latin typeface="Inter"/>
              </a:rP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6" y="3512312"/>
            <a:ext cx="211226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1" i="0" spc="100">
                <a:solidFill>
                  <a:srgbClr val="1B1B1B"/>
                </a:solidFill>
                <a:latin typeface="Inter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66376" y="3512312"/>
            <a:ext cx="14264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1" i="0" spc="100">
                <a:solidFill>
                  <a:srgbClr val="1B1B1B"/>
                </a:solidFill>
                <a:latin typeface="Inter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4416" y="3932936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1385jg_k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3932936"/>
            <a:ext cx="211226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Meeting Jeff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66376" y="3932936"/>
            <a:ext cx="14264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4416" y="4353560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135788ab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4656" y="4353560"/>
            <a:ext cx="211226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Launch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66376" y="4353560"/>
            <a:ext cx="14264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doing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4416" y="4774184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9f21c7e0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4774184"/>
            <a:ext cx="211226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Design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6376" y="4774184"/>
            <a:ext cx="14264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done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20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8000" b="0" i="0" spc="-140">
                <a:solidFill>
                  <a:srgbClr val="14110F"/>
                </a:solidFill>
                <a:latin typeface="Archivo Black"/>
              </a:rPr>
              <a:t>CRUD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14880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3A342E"/>
                </a:solidFill>
                <a:latin typeface="Inter"/>
              </a:rPr>
              <a:t>before anything else, the task CRUD must work — the four operations you test first: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477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 spc="-100">
                <a:solidFill>
                  <a:srgbClr val="FF4D00"/>
                </a:solidFill>
                <a:latin typeface="Archivo Black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9344" y="3420872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100" b="0" i="0" u="none">
                <a:solidFill>
                  <a:srgbClr val="14110F"/>
                </a:solidFill>
                <a:latin typeface="Archivo Black"/>
              </a:rPr>
              <a:t>CREATE </a:t>
            </a:r>
            <a:r>
              <a:rPr sz="1600" b="0" i="0" u="none">
                <a:solidFill>
                  <a:srgbClr val="6E655C"/>
                </a:solidFill>
                <a:latin typeface="Inter"/>
              </a:rPr>
              <a:t>— new information that did not exist 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51223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 spc="-100">
                <a:solidFill>
                  <a:srgbClr val="FF4D00"/>
                </a:solidFill>
                <a:latin typeface="Archivo Black"/>
              </a:rP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9344" y="4024375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100" b="0" i="0" u="none">
                <a:solidFill>
                  <a:srgbClr val="14110F"/>
                </a:solidFill>
                <a:latin typeface="Archivo Black"/>
              </a:rPr>
              <a:t>READ </a:t>
            </a:r>
            <a:r>
              <a:rPr sz="1600" b="0" i="0" u="none">
                <a:solidFill>
                  <a:srgbClr val="6E655C"/>
                </a:solidFill>
                <a:latin typeface="Inter"/>
              </a:rPr>
              <a:t>— viewing information that exists, on screen or in the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5472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 spc="-100">
                <a:solidFill>
                  <a:srgbClr val="FF4D00"/>
                </a:solidFill>
                <a:latin typeface="Archivo Black"/>
              </a:rP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46278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100" b="0" i="0" u="none">
                <a:solidFill>
                  <a:srgbClr val="14110F"/>
                </a:solidFill>
                <a:latin typeface="Archivo Black"/>
              </a:rPr>
              <a:t>UPDATE </a:t>
            </a:r>
            <a:r>
              <a:rPr sz="1600" b="0" i="0" u="none">
                <a:solidFill>
                  <a:srgbClr val="6E655C"/>
                </a:solidFill>
                <a:latin typeface="Inter"/>
              </a:rPr>
              <a:t>— editing existing information — like changing a username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5823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 spc="-100">
                <a:solidFill>
                  <a:srgbClr val="FF4D00"/>
                </a:solidFill>
                <a:latin typeface="Archivo Black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5231384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100" b="0" i="0" u="none">
                <a:solidFill>
                  <a:srgbClr val="14110F"/>
                </a:solidFill>
                <a:latin typeface="Archivo Black"/>
              </a:rPr>
              <a:t>DELETE </a:t>
            </a:r>
            <a:r>
              <a:rPr sz="1600" b="0" i="0" u="none">
                <a:solidFill>
                  <a:srgbClr val="6E655C"/>
                </a:solidFill>
                <a:latin typeface="Inter"/>
              </a:rPr>
              <a:t>— bon voyage, hasta la vista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133856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400" b="0" i="0" spc="-140">
                <a:solidFill>
                  <a:srgbClr val="14110F"/>
                </a:solidFill>
                <a:latin typeface="Archivo Black"/>
              </a:rPr>
              <a:t>WHERE AI MODELS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11095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3A342E"/>
                </a:solidFill>
                <a:latin typeface="Inter"/>
              </a:rPr>
              <a:t>two places — one is theirs, one is yours.</a:t>
            </a:r>
          </a:p>
        </p:txBody>
      </p:sp>
      <p:sp>
        <p:nvSpPr>
          <p:cNvPr id="4" name="Freeform 3"/>
          <p:cNvSpPr/>
          <p:nvPr/>
        </p:nvSpPr>
        <p:spPr>
          <a:xfrm>
            <a:off x="804651" y="2872566"/>
            <a:ext cx="5107104" cy="2180040"/>
          </a:xfrm>
          <a:custGeom>
            <a:avLst/>
            <a:gdLst/>
            <a:ahLst/>
            <a:cxnLst/>
            <a:rect l="l" t="t" r="r" b="b"/>
            <a:pathLst>
              <a:path w="5107104" h="2180040">
                <a:moveTo>
                  <a:pt x="18227" y="1981116"/>
                </a:moveTo>
                <a:lnTo>
                  <a:pt x="28332" y="1640828"/>
                </a:lnTo>
                <a:lnTo>
                  <a:pt x="14306" y="1274893"/>
                </a:lnTo>
                <a:lnTo>
                  <a:pt x="22385" y="917067"/>
                </a:lnTo>
                <a:lnTo>
                  <a:pt x="5002" y="556864"/>
                </a:lnTo>
                <a:lnTo>
                  <a:pt x="0" y="192553"/>
                </a:lnTo>
                <a:lnTo>
                  <a:pt x="34588" y="156523"/>
                </a:lnTo>
                <a:lnTo>
                  <a:pt x="44362" y="89115"/>
                </a:lnTo>
                <a:lnTo>
                  <a:pt x="64410" y="57718"/>
                </a:lnTo>
                <a:lnTo>
                  <a:pt x="95271" y="20998"/>
                </a:lnTo>
                <a:lnTo>
                  <a:pt x="144784" y="16087"/>
                </a:lnTo>
                <a:lnTo>
                  <a:pt x="217491" y="8670"/>
                </a:lnTo>
                <a:lnTo>
                  <a:pt x="1143800" y="0"/>
                </a:lnTo>
                <a:lnTo>
                  <a:pt x="2090316" y="28853"/>
                </a:lnTo>
                <a:lnTo>
                  <a:pt x="3041299" y="4305"/>
                </a:lnTo>
                <a:lnTo>
                  <a:pt x="3965378" y="8510"/>
                </a:lnTo>
                <a:lnTo>
                  <a:pt x="4923270" y="3536"/>
                </a:lnTo>
                <a:lnTo>
                  <a:pt x="4967950" y="18708"/>
                </a:lnTo>
                <a:lnTo>
                  <a:pt x="5020223" y="39999"/>
                </a:lnTo>
                <a:lnTo>
                  <a:pt x="5058147" y="77976"/>
                </a:lnTo>
                <a:lnTo>
                  <a:pt x="5079447" y="80755"/>
                </a:lnTo>
                <a:lnTo>
                  <a:pt x="5100624" y="126126"/>
                </a:lnTo>
                <a:lnTo>
                  <a:pt x="5086007" y="209980"/>
                </a:lnTo>
                <a:lnTo>
                  <a:pt x="5098167" y="555843"/>
                </a:lnTo>
                <a:lnTo>
                  <a:pt x="5102839" y="905357"/>
                </a:lnTo>
                <a:lnTo>
                  <a:pt x="5089283" y="1275801"/>
                </a:lnTo>
                <a:lnTo>
                  <a:pt x="5088173" y="1620409"/>
                </a:lnTo>
                <a:lnTo>
                  <a:pt x="5107104" y="1989470"/>
                </a:lnTo>
                <a:lnTo>
                  <a:pt x="5086945" y="2045319"/>
                </a:lnTo>
                <a:lnTo>
                  <a:pt x="5071991" y="2095339"/>
                </a:lnTo>
                <a:lnTo>
                  <a:pt x="5054630" y="2127055"/>
                </a:lnTo>
                <a:lnTo>
                  <a:pt x="5013595" y="2151310"/>
                </a:lnTo>
                <a:lnTo>
                  <a:pt x="4978357" y="2156384"/>
                </a:lnTo>
                <a:lnTo>
                  <a:pt x="4916372" y="2166763"/>
                </a:lnTo>
                <a:lnTo>
                  <a:pt x="3958526" y="2158155"/>
                </a:lnTo>
                <a:lnTo>
                  <a:pt x="3031298" y="2180040"/>
                </a:lnTo>
                <a:lnTo>
                  <a:pt x="2085372" y="2158623"/>
                </a:lnTo>
                <a:lnTo>
                  <a:pt x="1148156" y="2158159"/>
                </a:lnTo>
                <a:lnTo>
                  <a:pt x="203691" y="2172682"/>
                </a:lnTo>
                <a:lnTo>
                  <a:pt x="143715" y="2153786"/>
                </a:lnTo>
                <a:lnTo>
                  <a:pt x="107612" y="2145668"/>
                </a:lnTo>
                <a:lnTo>
                  <a:pt x="57196" y="2115203"/>
                </a:lnTo>
                <a:lnTo>
                  <a:pt x="39787" y="2078799"/>
                </a:lnTo>
                <a:lnTo>
                  <a:pt x="17917" y="2051634"/>
                </a:lnTo>
                <a:close/>
              </a:path>
            </a:pathLst>
          </a:custGeom>
          <a:solidFill>
            <a:srgbClr val="A9D3EE"/>
          </a:solidFill>
          <a:ln w="28575" cap="rnd">
            <a:solidFill>
              <a:srgbClr val="2E6E9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" y="3274313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F4D00"/>
                </a:solidFill>
                <a:latin typeface="Archivo Blac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3676649"/>
            <a:ext cx="4453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 spc="-40">
                <a:solidFill>
                  <a:srgbClr val="14110F"/>
                </a:solidFill>
                <a:latin typeface="Archivo Black"/>
              </a:rPr>
              <a:t>THE MODEL MAKER'S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4115561"/>
            <a:ext cx="4453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E655C"/>
                </a:solidFill>
                <a:latin typeface="Inter"/>
              </a:rPr>
              <a:t>ChatGPT — where most people first used GPT models</a:t>
            </a:r>
          </a:p>
        </p:txBody>
      </p:sp>
      <p:sp>
        <p:nvSpPr>
          <p:cNvPr id="8" name="Freeform 7"/>
          <p:cNvSpPr/>
          <p:nvPr/>
        </p:nvSpPr>
        <p:spPr>
          <a:xfrm>
            <a:off x="6284888" y="2886588"/>
            <a:ext cx="5091892" cy="2164159"/>
          </a:xfrm>
          <a:custGeom>
            <a:avLst/>
            <a:gdLst/>
            <a:ahLst/>
            <a:cxnLst/>
            <a:rect l="l" t="t" r="r" b="b"/>
            <a:pathLst>
              <a:path w="5091892" h="2164159">
                <a:moveTo>
                  <a:pt x="23600" y="1961920"/>
                </a:moveTo>
                <a:lnTo>
                  <a:pt x="0" y="1621319"/>
                </a:lnTo>
                <a:lnTo>
                  <a:pt x="7038" y="1262274"/>
                </a:lnTo>
                <a:lnTo>
                  <a:pt x="9873" y="895748"/>
                </a:lnTo>
                <a:lnTo>
                  <a:pt x="14778" y="530183"/>
                </a:lnTo>
                <a:lnTo>
                  <a:pt x="8129" y="184692"/>
                </a:lnTo>
                <a:lnTo>
                  <a:pt x="14129" y="128680"/>
                </a:lnTo>
                <a:lnTo>
                  <a:pt x="22514" y="84513"/>
                </a:lnTo>
                <a:lnTo>
                  <a:pt x="43510" y="48923"/>
                </a:lnTo>
                <a:lnTo>
                  <a:pt x="97025" y="24459"/>
                </a:lnTo>
                <a:lnTo>
                  <a:pt x="135304" y="8017"/>
                </a:lnTo>
                <a:lnTo>
                  <a:pt x="176360" y="2416"/>
                </a:lnTo>
                <a:lnTo>
                  <a:pt x="1124910" y="6574"/>
                </a:lnTo>
                <a:lnTo>
                  <a:pt x="2088230" y="14385"/>
                </a:lnTo>
                <a:lnTo>
                  <a:pt x="3015314" y="0"/>
                </a:lnTo>
                <a:lnTo>
                  <a:pt x="3958314" y="11934"/>
                </a:lnTo>
                <a:lnTo>
                  <a:pt x="4896050" y="15707"/>
                </a:lnTo>
                <a:lnTo>
                  <a:pt x="4955439" y="12367"/>
                </a:lnTo>
                <a:lnTo>
                  <a:pt x="5011884" y="23706"/>
                </a:lnTo>
                <a:lnTo>
                  <a:pt x="5037223" y="61019"/>
                </a:lnTo>
                <a:lnTo>
                  <a:pt x="5073753" y="82080"/>
                </a:lnTo>
                <a:lnTo>
                  <a:pt x="5069191" y="127651"/>
                </a:lnTo>
                <a:lnTo>
                  <a:pt x="5079341" y="202103"/>
                </a:lnTo>
                <a:lnTo>
                  <a:pt x="5091892" y="534202"/>
                </a:lnTo>
                <a:lnTo>
                  <a:pt x="5090447" y="888436"/>
                </a:lnTo>
                <a:lnTo>
                  <a:pt x="5085042" y="1240049"/>
                </a:lnTo>
                <a:lnTo>
                  <a:pt x="5077858" y="1613521"/>
                </a:lnTo>
                <a:lnTo>
                  <a:pt x="5082459" y="1980254"/>
                </a:lnTo>
                <a:lnTo>
                  <a:pt x="5077657" y="2040712"/>
                </a:lnTo>
                <a:lnTo>
                  <a:pt x="5058378" y="2067078"/>
                </a:lnTo>
                <a:lnTo>
                  <a:pt x="5046984" y="2101953"/>
                </a:lnTo>
                <a:lnTo>
                  <a:pt x="4998883" y="2124245"/>
                </a:lnTo>
                <a:lnTo>
                  <a:pt x="4965020" y="2151826"/>
                </a:lnTo>
                <a:lnTo>
                  <a:pt x="4894713" y="2164159"/>
                </a:lnTo>
                <a:lnTo>
                  <a:pt x="3961917" y="2161244"/>
                </a:lnTo>
                <a:lnTo>
                  <a:pt x="3013200" y="2148814"/>
                </a:lnTo>
                <a:lnTo>
                  <a:pt x="2090188" y="2156180"/>
                </a:lnTo>
                <a:lnTo>
                  <a:pt x="1137165" y="2148345"/>
                </a:lnTo>
                <a:lnTo>
                  <a:pt x="196607" y="2145003"/>
                </a:lnTo>
                <a:lnTo>
                  <a:pt x="140645" y="2139312"/>
                </a:lnTo>
                <a:lnTo>
                  <a:pt x="84040" y="2149166"/>
                </a:lnTo>
                <a:lnTo>
                  <a:pt x="51463" y="2111103"/>
                </a:lnTo>
                <a:lnTo>
                  <a:pt x="26529" y="2066701"/>
                </a:lnTo>
                <a:lnTo>
                  <a:pt x="6050" y="2012678"/>
                </a:lnTo>
                <a:close/>
              </a:path>
            </a:pathLst>
          </a:custGeom>
          <a:solidFill>
            <a:srgbClr val="B8E0A8"/>
          </a:solidFill>
          <a:ln w="28575" cap="rnd">
            <a:solidFill>
              <a:srgbClr val="4E8A3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3274313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F4D00"/>
                </a:solidFill>
                <a:latin typeface="Archivo Blac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3676649"/>
            <a:ext cx="4453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 spc="-40">
                <a:solidFill>
                  <a:srgbClr val="14110F"/>
                </a:solidFill>
                <a:latin typeface="Archivo Black"/>
              </a:rPr>
              <a:t>THE OPENAI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4115561"/>
            <a:ext cx="4453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E655C"/>
                </a:solidFill>
                <a:latin typeface="Inter"/>
              </a:rPr>
              <a:t>where you use those models inside your own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85994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A342E"/>
                </a:solidFill>
                <a:latin typeface="Inter"/>
              </a:rPr>
              <a:t>the api is the highway — you send a prompt, you get a response.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200" b="0" i="0" spc="-140">
                <a:solidFill>
                  <a:srgbClr val="14110F"/>
                </a:solidFill>
                <a:latin typeface="Archivo Black"/>
              </a:rPr>
              <a:t>API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21408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3A342E"/>
                </a:solidFill>
                <a:latin typeface="Inter"/>
              </a:rPr>
              <a:t>how does OpenAI know you're allowed to use their models?</a:t>
            </a:r>
          </a:p>
        </p:txBody>
      </p:sp>
      <p:sp>
        <p:nvSpPr>
          <p:cNvPr id="4" name="Freeform 3"/>
          <p:cNvSpPr/>
          <p:nvPr/>
        </p:nvSpPr>
        <p:spPr>
          <a:xfrm>
            <a:off x="819053" y="3033422"/>
            <a:ext cx="3215493" cy="1947722"/>
          </a:xfrm>
          <a:custGeom>
            <a:avLst/>
            <a:gdLst/>
            <a:ahLst/>
            <a:cxnLst/>
            <a:rect l="l" t="t" r="r" b="b"/>
            <a:pathLst>
              <a:path w="3215493" h="1947722">
                <a:moveTo>
                  <a:pt x="0" y="1691144"/>
                </a:moveTo>
                <a:lnTo>
                  <a:pt x="13833" y="1398777"/>
                </a:lnTo>
                <a:lnTo>
                  <a:pt x="10674" y="1108402"/>
                </a:lnTo>
                <a:lnTo>
                  <a:pt x="16194" y="815928"/>
                </a:lnTo>
                <a:lnTo>
                  <a:pt x="9017" y="526379"/>
                </a:lnTo>
                <a:lnTo>
                  <a:pt x="12802" y="264507"/>
                </a:lnTo>
                <a:lnTo>
                  <a:pt x="6795" y="165552"/>
                </a:lnTo>
                <a:lnTo>
                  <a:pt x="29447" y="118284"/>
                </a:lnTo>
                <a:lnTo>
                  <a:pt x="51943" y="59065"/>
                </a:lnTo>
                <a:lnTo>
                  <a:pt x="109070" y="25171"/>
                </a:lnTo>
                <a:lnTo>
                  <a:pt x="153266" y="18465"/>
                </a:lnTo>
                <a:lnTo>
                  <a:pt x="254255" y="6263"/>
                </a:lnTo>
                <a:lnTo>
                  <a:pt x="774121" y="6665"/>
                </a:lnTo>
                <a:lnTo>
                  <a:pt x="1324570" y="3968"/>
                </a:lnTo>
                <a:lnTo>
                  <a:pt x="1880512" y="0"/>
                </a:lnTo>
                <a:lnTo>
                  <a:pt x="2411443" y="2453"/>
                </a:lnTo>
                <a:lnTo>
                  <a:pt x="2958076" y="6355"/>
                </a:lnTo>
                <a:lnTo>
                  <a:pt x="3045636" y="2874"/>
                </a:lnTo>
                <a:lnTo>
                  <a:pt x="3111576" y="30341"/>
                </a:lnTo>
                <a:lnTo>
                  <a:pt x="3144632" y="88280"/>
                </a:lnTo>
                <a:lnTo>
                  <a:pt x="3189755" y="123460"/>
                </a:lnTo>
                <a:lnTo>
                  <a:pt x="3194065" y="160524"/>
                </a:lnTo>
                <a:lnTo>
                  <a:pt x="3215493" y="260671"/>
                </a:lnTo>
                <a:lnTo>
                  <a:pt x="3215243" y="549181"/>
                </a:lnTo>
                <a:lnTo>
                  <a:pt x="3202479" y="820104"/>
                </a:lnTo>
                <a:lnTo>
                  <a:pt x="3204174" y="1104823"/>
                </a:lnTo>
                <a:lnTo>
                  <a:pt x="3214472" y="1417440"/>
                </a:lnTo>
                <a:lnTo>
                  <a:pt x="3210407" y="1683337"/>
                </a:lnTo>
                <a:lnTo>
                  <a:pt x="3186579" y="1776396"/>
                </a:lnTo>
                <a:lnTo>
                  <a:pt x="3158816" y="1821988"/>
                </a:lnTo>
                <a:lnTo>
                  <a:pt x="3145588" y="1876754"/>
                </a:lnTo>
                <a:lnTo>
                  <a:pt x="3104279" y="1894556"/>
                </a:lnTo>
                <a:lnTo>
                  <a:pt x="3032239" y="1922158"/>
                </a:lnTo>
                <a:lnTo>
                  <a:pt x="2977456" y="1936923"/>
                </a:lnTo>
                <a:lnTo>
                  <a:pt x="2415645" y="1932454"/>
                </a:lnTo>
                <a:lnTo>
                  <a:pt x="1878783" y="1942456"/>
                </a:lnTo>
                <a:lnTo>
                  <a:pt x="1343190" y="1929660"/>
                </a:lnTo>
                <a:lnTo>
                  <a:pt x="778902" y="1944172"/>
                </a:lnTo>
                <a:lnTo>
                  <a:pt x="234753" y="1947722"/>
                </a:lnTo>
                <a:lnTo>
                  <a:pt x="172352" y="1913334"/>
                </a:lnTo>
                <a:lnTo>
                  <a:pt x="113122" y="1909680"/>
                </a:lnTo>
                <a:lnTo>
                  <a:pt x="54065" y="1855636"/>
                </a:lnTo>
                <a:lnTo>
                  <a:pt x="38980" y="1818834"/>
                </a:lnTo>
                <a:lnTo>
                  <a:pt x="7325" y="1762644"/>
                </a:lnTo>
                <a:close/>
              </a:path>
            </a:pathLst>
          </a:custGeom>
          <a:solidFill>
            <a:srgbClr val="A9D3EE"/>
          </a:solidFill>
          <a:ln w="28575" cap="rnd">
            <a:solidFill>
              <a:srgbClr val="2E6E9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66820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 spc="-30">
                <a:solidFill>
                  <a:srgbClr val="1B1B1B"/>
                </a:solidFill>
                <a:latin typeface="Archivo Black"/>
              </a:rPr>
              <a:t>A PASSWORD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9506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00" b="0" i="1">
                <a:solidFill>
                  <a:srgbClr val="1B1B1B"/>
                </a:solidFill>
                <a:latin typeface="Inter"/>
              </a:rPr>
              <a:t>never share it</a:t>
            </a:r>
          </a:p>
        </p:txBody>
      </p:sp>
      <p:sp>
        <p:nvSpPr>
          <p:cNvPr id="7" name="Freeform 6"/>
          <p:cNvSpPr/>
          <p:nvPr/>
        </p:nvSpPr>
        <p:spPr>
          <a:xfrm>
            <a:off x="2129824" y="4513450"/>
            <a:ext cx="573825" cy="423758"/>
          </a:xfrm>
          <a:custGeom>
            <a:avLst/>
            <a:gdLst/>
            <a:ahLst/>
            <a:cxnLst/>
            <a:rect l="l" t="t" r="r" b="b"/>
            <a:pathLst>
              <a:path w="573825" h="423758">
                <a:moveTo>
                  <a:pt x="18803" y="303346"/>
                </a:moveTo>
                <a:lnTo>
                  <a:pt x="7129" y="273550"/>
                </a:lnTo>
                <a:lnTo>
                  <a:pt x="0" y="224305"/>
                </a:lnTo>
                <a:lnTo>
                  <a:pt x="10459" y="210115"/>
                </a:lnTo>
                <a:lnTo>
                  <a:pt x="16362" y="164645"/>
                </a:lnTo>
                <a:lnTo>
                  <a:pt x="31621" y="118184"/>
                </a:lnTo>
                <a:lnTo>
                  <a:pt x="35781" y="97452"/>
                </a:lnTo>
                <a:lnTo>
                  <a:pt x="43888" y="44024"/>
                </a:lnTo>
                <a:lnTo>
                  <a:pt x="61050" y="40168"/>
                </a:lnTo>
                <a:lnTo>
                  <a:pt x="72874" y="34758"/>
                </a:lnTo>
                <a:lnTo>
                  <a:pt x="95872" y="16178"/>
                </a:lnTo>
                <a:lnTo>
                  <a:pt x="129847" y="13956"/>
                </a:lnTo>
                <a:lnTo>
                  <a:pt x="192656" y="0"/>
                </a:lnTo>
                <a:lnTo>
                  <a:pt x="275220" y="3826"/>
                </a:lnTo>
                <a:lnTo>
                  <a:pt x="338325" y="21435"/>
                </a:lnTo>
                <a:lnTo>
                  <a:pt x="391462" y="5403"/>
                </a:lnTo>
                <a:lnTo>
                  <a:pt x="451412" y="15946"/>
                </a:lnTo>
                <a:lnTo>
                  <a:pt x="492503" y="18486"/>
                </a:lnTo>
                <a:lnTo>
                  <a:pt x="522657" y="30037"/>
                </a:lnTo>
                <a:lnTo>
                  <a:pt x="542818" y="42228"/>
                </a:lnTo>
                <a:lnTo>
                  <a:pt x="549544" y="56367"/>
                </a:lnTo>
                <a:lnTo>
                  <a:pt x="557183" y="92658"/>
                </a:lnTo>
                <a:lnTo>
                  <a:pt x="573825" y="113116"/>
                </a:lnTo>
                <a:lnTo>
                  <a:pt x="561470" y="154443"/>
                </a:lnTo>
                <a:lnTo>
                  <a:pt x="566930" y="187114"/>
                </a:lnTo>
                <a:lnTo>
                  <a:pt x="552938" y="237627"/>
                </a:lnTo>
                <a:lnTo>
                  <a:pt x="569171" y="284097"/>
                </a:lnTo>
                <a:lnTo>
                  <a:pt x="569788" y="304670"/>
                </a:lnTo>
                <a:lnTo>
                  <a:pt x="559804" y="351875"/>
                </a:lnTo>
                <a:lnTo>
                  <a:pt x="555558" y="365995"/>
                </a:lnTo>
                <a:lnTo>
                  <a:pt x="526116" y="384082"/>
                </a:lnTo>
                <a:lnTo>
                  <a:pt x="506251" y="412342"/>
                </a:lnTo>
                <a:lnTo>
                  <a:pt x="482222" y="414755"/>
                </a:lnTo>
                <a:lnTo>
                  <a:pt x="454994" y="406151"/>
                </a:lnTo>
                <a:lnTo>
                  <a:pt x="396687" y="422952"/>
                </a:lnTo>
                <a:lnTo>
                  <a:pt x="313110" y="417273"/>
                </a:lnTo>
                <a:lnTo>
                  <a:pt x="267306" y="404444"/>
                </a:lnTo>
                <a:lnTo>
                  <a:pt x="202089" y="420330"/>
                </a:lnTo>
                <a:lnTo>
                  <a:pt x="131710" y="423758"/>
                </a:lnTo>
                <a:lnTo>
                  <a:pt x="86465" y="423530"/>
                </a:lnTo>
                <a:lnTo>
                  <a:pt x="68322" y="397613"/>
                </a:lnTo>
                <a:lnTo>
                  <a:pt x="38266" y="387228"/>
                </a:lnTo>
                <a:lnTo>
                  <a:pt x="43553" y="369147"/>
                </a:lnTo>
                <a:lnTo>
                  <a:pt x="22465" y="352615"/>
                </a:lnTo>
                <a:close/>
              </a:path>
            </a:pathLst>
          </a:custGeom>
          <a:solidFill>
            <a:srgbClr val="FFFFFF"/>
          </a:solidFill>
          <a:ln w="2222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232151" y="4412376"/>
            <a:ext cx="376719" cy="120084"/>
          </a:xfrm>
          <a:custGeom>
            <a:avLst/>
            <a:gdLst/>
            <a:ahLst/>
            <a:cxnLst/>
            <a:rect l="l" t="t" r="r" b="b"/>
            <a:pathLst>
              <a:path w="376719" h="120084">
                <a:moveTo>
                  <a:pt x="0" y="120084"/>
                </a:moveTo>
                <a:lnTo>
                  <a:pt x="8481" y="6603"/>
                </a:lnTo>
                <a:lnTo>
                  <a:pt x="376719" y="0"/>
                </a:lnTo>
                <a:lnTo>
                  <a:pt x="372480" y="119294"/>
                </a:lnTo>
              </a:path>
            </a:pathLst>
          </a:custGeom>
          <a:noFill/>
          <a:ln w="22225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461769" y="3030766"/>
            <a:ext cx="3234284" cy="1945970"/>
          </a:xfrm>
          <a:custGeom>
            <a:avLst/>
            <a:gdLst/>
            <a:ahLst/>
            <a:cxnLst/>
            <a:rect l="l" t="t" r="r" b="b"/>
            <a:pathLst>
              <a:path w="3234284" h="1945970">
                <a:moveTo>
                  <a:pt x="0" y="1693549"/>
                </a:moveTo>
                <a:lnTo>
                  <a:pt x="22748" y="1402209"/>
                </a:lnTo>
                <a:lnTo>
                  <a:pt x="2878" y="1118516"/>
                </a:lnTo>
                <a:lnTo>
                  <a:pt x="13497" y="839104"/>
                </a:lnTo>
                <a:lnTo>
                  <a:pt x="15644" y="546723"/>
                </a:lnTo>
                <a:lnTo>
                  <a:pt x="17907" y="251768"/>
                </a:lnTo>
                <a:lnTo>
                  <a:pt x="22219" y="171412"/>
                </a:lnTo>
                <a:lnTo>
                  <a:pt x="48460" y="123925"/>
                </a:lnTo>
                <a:lnTo>
                  <a:pt x="84222" y="87556"/>
                </a:lnTo>
                <a:lnTo>
                  <a:pt x="129328" y="48415"/>
                </a:lnTo>
                <a:lnTo>
                  <a:pt x="189745" y="31773"/>
                </a:lnTo>
                <a:lnTo>
                  <a:pt x="249350" y="9828"/>
                </a:lnTo>
                <a:lnTo>
                  <a:pt x="800345" y="18042"/>
                </a:lnTo>
                <a:lnTo>
                  <a:pt x="1343004" y="7561"/>
                </a:lnTo>
                <a:lnTo>
                  <a:pt x="1883283" y="0"/>
                </a:lnTo>
                <a:lnTo>
                  <a:pt x="2446774" y="2608"/>
                </a:lnTo>
                <a:lnTo>
                  <a:pt x="2985396" y="8945"/>
                </a:lnTo>
                <a:lnTo>
                  <a:pt x="3067686" y="2001"/>
                </a:lnTo>
                <a:lnTo>
                  <a:pt x="3117901" y="42175"/>
                </a:lnTo>
                <a:lnTo>
                  <a:pt x="3170668" y="71319"/>
                </a:lnTo>
                <a:lnTo>
                  <a:pt x="3194345" y="113453"/>
                </a:lnTo>
                <a:lnTo>
                  <a:pt x="3205059" y="189133"/>
                </a:lnTo>
                <a:lnTo>
                  <a:pt x="3230098" y="248455"/>
                </a:lnTo>
                <a:lnTo>
                  <a:pt x="3229277" y="550399"/>
                </a:lnTo>
                <a:lnTo>
                  <a:pt x="3234284" y="839023"/>
                </a:lnTo>
                <a:lnTo>
                  <a:pt x="3224599" y="1117697"/>
                </a:lnTo>
                <a:lnTo>
                  <a:pt x="3207411" y="1400269"/>
                </a:lnTo>
                <a:lnTo>
                  <a:pt x="3225841" y="1685444"/>
                </a:lnTo>
                <a:lnTo>
                  <a:pt x="3220137" y="1771066"/>
                </a:lnTo>
                <a:lnTo>
                  <a:pt x="3204889" y="1831269"/>
                </a:lnTo>
                <a:lnTo>
                  <a:pt x="3148632" y="1868675"/>
                </a:lnTo>
                <a:lnTo>
                  <a:pt x="3110554" y="1896114"/>
                </a:lnTo>
                <a:lnTo>
                  <a:pt x="3059270" y="1919267"/>
                </a:lnTo>
                <a:lnTo>
                  <a:pt x="2978686" y="1926319"/>
                </a:lnTo>
                <a:lnTo>
                  <a:pt x="2440577" y="1945970"/>
                </a:lnTo>
                <a:lnTo>
                  <a:pt x="1894561" y="1925469"/>
                </a:lnTo>
                <a:lnTo>
                  <a:pt x="1353859" y="1934211"/>
                </a:lnTo>
                <a:lnTo>
                  <a:pt x="806388" y="1941608"/>
                </a:lnTo>
                <a:lnTo>
                  <a:pt x="261259" y="1940467"/>
                </a:lnTo>
                <a:lnTo>
                  <a:pt x="173461" y="1935661"/>
                </a:lnTo>
                <a:lnTo>
                  <a:pt x="115795" y="1917595"/>
                </a:lnTo>
                <a:lnTo>
                  <a:pt x="92414" y="1889977"/>
                </a:lnTo>
                <a:lnTo>
                  <a:pt x="50725" y="1812529"/>
                </a:lnTo>
                <a:lnTo>
                  <a:pt x="28615" y="1756352"/>
                </a:lnTo>
                <a:close/>
              </a:path>
            </a:pathLst>
          </a:custGeom>
          <a:solidFill>
            <a:srgbClr val="F7E9A0"/>
          </a:solidFill>
          <a:ln w="28575" cap="rnd">
            <a:solidFill>
              <a:srgbClr val="B08D2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3766820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 spc="-30">
                <a:solidFill>
                  <a:srgbClr val="1B1B1B"/>
                </a:solidFill>
                <a:latin typeface="Archivo Black"/>
              </a:rPr>
              <a:t>E-ZPASS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19506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00" b="0" i="1">
                <a:solidFill>
                  <a:srgbClr val="1B1B1B"/>
                </a:solidFill>
                <a:latin typeface="Inter"/>
              </a:rPr>
              <a:t>a unique identifier the scanner reads</a:t>
            </a:r>
          </a:p>
        </p:txBody>
      </p:sp>
      <p:sp>
        <p:nvSpPr>
          <p:cNvPr id="12" name="Freeform 11"/>
          <p:cNvSpPr/>
          <p:nvPr/>
        </p:nvSpPr>
        <p:spPr>
          <a:xfrm>
            <a:off x="5041472" y="4436693"/>
            <a:ext cx="7640" cy="383042"/>
          </a:xfrm>
          <a:custGeom>
            <a:avLst/>
            <a:gdLst/>
            <a:ahLst/>
            <a:cxnLst/>
            <a:rect l="l" t="t" r="r" b="b"/>
            <a:pathLst>
              <a:path w="7640" h="383042">
                <a:moveTo>
                  <a:pt x="7640" y="0"/>
                </a:moveTo>
                <a:lnTo>
                  <a:pt x="0" y="383042"/>
                </a:lnTo>
              </a:path>
            </a:pathLst>
          </a:custGeom>
          <a:noFill/>
          <a:ln w="1778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280921" y="4433341"/>
            <a:ext cx="7748" cy="385269"/>
          </a:xfrm>
          <a:custGeom>
            <a:avLst/>
            <a:gdLst/>
            <a:ahLst/>
            <a:cxnLst/>
            <a:rect l="l" t="t" r="r" b="b"/>
            <a:pathLst>
              <a:path w="7748" h="385269">
                <a:moveTo>
                  <a:pt x="7748" y="0"/>
                </a:moveTo>
                <a:lnTo>
                  <a:pt x="0" y="385269"/>
                </a:lnTo>
              </a:path>
            </a:pathLst>
          </a:custGeom>
          <a:noFill/>
          <a:ln w="2413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517876" y="4434555"/>
            <a:ext cx="572" cy="386448"/>
          </a:xfrm>
          <a:custGeom>
            <a:avLst/>
            <a:gdLst/>
            <a:ahLst/>
            <a:cxnLst/>
            <a:rect l="l" t="t" r="r" b="b"/>
            <a:pathLst>
              <a:path w="572" h="386448">
                <a:moveTo>
                  <a:pt x="572" y="0"/>
                </a:moveTo>
                <a:lnTo>
                  <a:pt x="0" y="386448"/>
                </a:lnTo>
              </a:path>
            </a:pathLst>
          </a:custGeom>
          <a:noFill/>
          <a:ln w="3048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5755897" y="4428227"/>
            <a:ext cx="4120" cy="394694"/>
          </a:xfrm>
          <a:custGeom>
            <a:avLst/>
            <a:gdLst/>
            <a:ahLst/>
            <a:cxnLst/>
            <a:rect l="l" t="t" r="r" b="b"/>
            <a:pathLst>
              <a:path w="4120" h="394694">
                <a:moveTo>
                  <a:pt x="4120" y="0"/>
                </a:moveTo>
                <a:lnTo>
                  <a:pt x="0" y="394694"/>
                </a:lnTo>
              </a:path>
            </a:pathLst>
          </a:custGeom>
          <a:noFill/>
          <a:ln w="1778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5994676" y="4432354"/>
            <a:ext cx="6334" cy="386641"/>
          </a:xfrm>
          <a:custGeom>
            <a:avLst/>
            <a:gdLst/>
            <a:ahLst/>
            <a:cxnLst/>
            <a:rect l="l" t="t" r="r" b="b"/>
            <a:pathLst>
              <a:path w="6334" h="386641">
                <a:moveTo>
                  <a:pt x="6334" y="0"/>
                </a:moveTo>
                <a:lnTo>
                  <a:pt x="0" y="386641"/>
                </a:lnTo>
              </a:path>
            </a:pathLst>
          </a:custGeom>
          <a:noFill/>
          <a:ln w="2413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232762" y="4434410"/>
            <a:ext cx="2462" cy="390000"/>
          </a:xfrm>
          <a:custGeom>
            <a:avLst/>
            <a:gdLst/>
            <a:ahLst/>
            <a:cxnLst/>
            <a:rect l="l" t="t" r="r" b="b"/>
            <a:pathLst>
              <a:path w="2462" h="390000">
                <a:moveTo>
                  <a:pt x="2462" y="0"/>
                </a:moveTo>
                <a:lnTo>
                  <a:pt x="0" y="390000"/>
                </a:lnTo>
              </a:path>
            </a:pathLst>
          </a:custGeom>
          <a:noFill/>
          <a:ln w="3048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6474659" y="4439575"/>
            <a:ext cx="1324" cy="385285"/>
          </a:xfrm>
          <a:custGeom>
            <a:avLst/>
            <a:gdLst/>
            <a:ahLst/>
            <a:cxnLst/>
            <a:rect l="l" t="t" r="r" b="b"/>
            <a:pathLst>
              <a:path w="1324" h="385285">
                <a:moveTo>
                  <a:pt x="0" y="0"/>
                </a:moveTo>
                <a:lnTo>
                  <a:pt x="1324" y="385285"/>
                </a:lnTo>
              </a:path>
            </a:pathLst>
          </a:custGeom>
          <a:noFill/>
          <a:ln w="1778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6708488" y="4434102"/>
            <a:ext cx="2744" cy="383157"/>
          </a:xfrm>
          <a:custGeom>
            <a:avLst/>
            <a:gdLst/>
            <a:ahLst/>
            <a:cxnLst/>
            <a:rect l="l" t="t" r="r" b="b"/>
            <a:pathLst>
              <a:path w="2744" h="383157">
                <a:moveTo>
                  <a:pt x="0" y="0"/>
                </a:moveTo>
                <a:lnTo>
                  <a:pt x="2744" y="383157"/>
                </a:lnTo>
              </a:path>
            </a:pathLst>
          </a:custGeom>
          <a:noFill/>
          <a:ln w="2413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951465" y="4431876"/>
            <a:ext cx="4222" cy="384405"/>
          </a:xfrm>
          <a:custGeom>
            <a:avLst/>
            <a:gdLst/>
            <a:ahLst/>
            <a:cxnLst/>
            <a:rect l="l" t="t" r="r" b="b"/>
            <a:pathLst>
              <a:path w="4222" h="384405">
                <a:moveTo>
                  <a:pt x="0" y="0"/>
                </a:moveTo>
                <a:lnTo>
                  <a:pt x="4222" y="384405"/>
                </a:lnTo>
              </a:path>
            </a:pathLst>
          </a:custGeom>
          <a:noFill/>
          <a:ln w="30480" cap="rnd">
            <a:solidFill>
              <a:srgbClr val="1B1B1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8127281" y="3036118"/>
            <a:ext cx="3222667" cy="1941206"/>
          </a:xfrm>
          <a:custGeom>
            <a:avLst/>
            <a:gdLst/>
            <a:ahLst/>
            <a:cxnLst/>
            <a:rect l="l" t="t" r="r" b="b"/>
            <a:pathLst>
              <a:path w="3222667" h="1941206">
                <a:moveTo>
                  <a:pt x="24544" y="1685572"/>
                </a:moveTo>
                <a:lnTo>
                  <a:pt x="12943" y="1411185"/>
                </a:lnTo>
                <a:lnTo>
                  <a:pt x="0" y="1102207"/>
                </a:lnTo>
                <a:lnTo>
                  <a:pt x="21256" y="809127"/>
                </a:lnTo>
                <a:lnTo>
                  <a:pt x="10510" y="527347"/>
                </a:lnTo>
                <a:lnTo>
                  <a:pt x="14337" y="233440"/>
                </a:lnTo>
                <a:lnTo>
                  <a:pt x="8525" y="176239"/>
                </a:lnTo>
                <a:lnTo>
                  <a:pt x="47285" y="124959"/>
                </a:lnTo>
                <a:lnTo>
                  <a:pt x="72780" y="61439"/>
                </a:lnTo>
                <a:lnTo>
                  <a:pt x="119247" y="28354"/>
                </a:lnTo>
                <a:lnTo>
                  <a:pt x="174313" y="19728"/>
                </a:lnTo>
                <a:lnTo>
                  <a:pt x="237468" y="4416"/>
                </a:lnTo>
                <a:lnTo>
                  <a:pt x="791104" y="0"/>
                </a:lnTo>
                <a:lnTo>
                  <a:pt x="1335003" y="13135"/>
                </a:lnTo>
                <a:lnTo>
                  <a:pt x="1884179" y="17607"/>
                </a:lnTo>
                <a:lnTo>
                  <a:pt x="2417941" y="20046"/>
                </a:lnTo>
                <a:lnTo>
                  <a:pt x="2969692" y="19543"/>
                </a:lnTo>
                <a:lnTo>
                  <a:pt x="3054906" y="4726"/>
                </a:lnTo>
                <a:lnTo>
                  <a:pt x="3100727" y="30128"/>
                </a:lnTo>
                <a:lnTo>
                  <a:pt x="3170662" y="61397"/>
                </a:lnTo>
                <a:lnTo>
                  <a:pt x="3176731" y="126487"/>
                </a:lnTo>
                <a:lnTo>
                  <a:pt x="3209049" y="183054"/>
                </a:lnTo>
                <a:lnTo>
                  <a:pt x="3222667" y="239190"/>
                </a:lnTo>
                <a:lnTo>
                  <a:pt x="3202343" y="548132"/>
                </a:lnTo>
                <a:lnTo>
                  <a:pt x="3209548" y="820275"/>
                </a:lnTo>
                <a:lnTo>
                  <a:pt x="3221854" y="1100224"/>
                </a:lnTo>
                <a:lnTo>
                  <a:pt x="3218969" y="1397621"/>
                </a:lnTo>
                <a:lnTo>
                  <a:pt x="3206277" y="1681684"/>
                </a:lnTo>
                <a:lnTo>
                  <a:pt x="3207809" y="1771481"/>
                </a:lnTo>
                <a:lnTo>
                  <a:pt x="3175196" y="1828009"/>
                </a:lnTo>
                <a:lnTo>
                  <a:pt x="3167425" y="1863386"/>
                </a:lnTo>
                <a:lnTo>
                  <a:pt x="3093960" y="1899954"/>
                </a:lnTo>
                <a:lnTo>
                  <a:pt x="3030820" y="1941206"/>
                </a:lnTo>
                <a:lnTo>
                  <a:pt x="2966415" y="1920654"/>
                </a:lnTo>
                <a:lnTo>
                  <a:pt x="2445823" y="1913086"/>
                </a:lnTo>
                <a:lnTo>
                  <a:pt x="1897473" y="1918970"/>
                </a:lnTo>
                <a:lnTo>
                  <a:pt x="1341892" y="1924766"/>
                </a:lnTo>
                <a:lnTo>
                  <a:pt x="800422" y="1913511"/>
                </a:lnTo>
                <a:lnTo>
                  <a:pt x="261133" y="1914999"/>
                </a:lnTo>
                <a:lnTo>
                  <a:pt x="168966" y="1933279"/>
                </a:lnTo>
                <a:lnTo>
                  <a:pt x="118414" y="1891238"/>
                </a:lnTo>
                <a:lnTo>
                  <a:pt x="57949" y="1857723"/>
                </a:lnTo>
                <a:lnTo>
                  <a:pt x="54482" y="1826332"/>
                </a:lnTo>
                <a:lnTo>
                  <a:pt x="14691" y="1752472"/>
                </a:lnTo>
                <a:close/>
              </a:path>
            </a:pathLst>
          </a:custGeom>
          <a:solidFill>
            <a:srgbClr val="B8E0A8"/>
          </a:solidFill>
          <a:ln w="28575" cap="rnd">
            <a:solidFill>
              <a:srgbClr val="4E8A3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3766820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 spc="-30">
                <a:solidFill>
                  <a:srgbClr val="1B1B1B"/>
                </a:solidFill>
                <a:latin typeface="Archivo Black"/>
              </a:rPr>
              <a:t>YOUR MONEY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19506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300" b="0" i="1">
                <a:solidFill>
                  <a:srgbClr val="1B1B1B"/>
                </a:solidFill>
                <a:latin typeface="Inter"/>
              </a:rPr>
              <a:t>every call charges your account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34289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1B1B1B"/>
                </a:solidFill>
                <a:latin typeface="Archivo Black"/>
              </a:rPr>
              <a:t>$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1098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 spc="220">
                <a:solidFill>
                  <a:srgbClr val="A99E93"/>
                </a:solidFill>
                <a:latin typeface="Inter"/>
              </a:rPr>
              <a:t>GETTING THE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85308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55C"/>
                </a:solidFill>
                <a:latin typeface="Inter"/>
              </a:rPr>
              <a:t>platform.openai.com  →  sign up, verify identity, add billing  →  API keys  →  create new secret key  →  name it  →  generate  →  copy and store it securely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4250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F4D00"/>
                </a:solidFill>
                <a:latin typeface="Inter"/>
              </a:rPr>
              <a:t>once you hit done, you can never see it again.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1338560" cy="1045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0" i="0" spc="-140">
                <a:solidFill>
                  <a:srgbClr val="14110F"/>
                </a:solidFill>
                <a:latin typeface="Archivo Black"/>
              </a:rPr>
              <a:t>SIX COMMANDMENTS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1303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3A342E"/>
                </a:solidFill>
                <a:latin typeface="Inter"/>
              </a:rPr>
              <a:t>the six things that separate a build that lands from one that stalls.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70351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4D00"/>
                </a:solidFill>
                <a:latin typeface="Archivo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3042919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 i="0" u="none">
                <a:solidFill>
                  <a:srgbClr val="14110F"/>
                </a:solidFill>
                <a:latin typeface="Archivo Black"/>
              </a:rPr>
              <a:t>START WITH A PLAN </a:t>
            </a:r>
            <a:r>
              <a:rPr sz="1500" b="0" i="0" u="none">
                <a:solidFill>
                  <a:srgbClr val="6E655C"/>
                </a:solidFill>
                <a:latin typeface="Inter"/>
              </a:rPr>
              <a:t>— AI can't read your mind, it can only read scripts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69284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4D00"/>
                </a:solidFill>
                <a:latin typeface="Archivo Black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36418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 i="0" u="none">
                <a:solidFill>
                  <a:srgbClr val="14110F"/>
                </a:solidFill>
                <a:latin typeface="Archivo Black"/>
              </a:rPr>
              <a:t>GIVE CLEAR, SPECIFIC INSTRUCTIONS </a:t>
            </a:r>
            <a:r>
              <a:rPr sz="1500" b="0" i="0" u="none">
                <a:solidFill>
                  <a:srgbClr val="6E655C"/>
                </a:solidFill>
                <a:latin typeface="Inter"/>
              </a:rPr>
              <a:t>— name the features and what they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68216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4D00"/>
                </a:solidFill>
                <a:latin typeface="Archivo Black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424078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 i="0" u="none">
                <a:solidFill>
                  <a:srgbClr val="14110F"/>
                </a:solidFill>
                <a:latin typeface="Archivo Black"/>
              </a:rPr>
              <a:t>BUILD AND TEST IN SMALL PIECES </a:t>
            </a:r>
            <a:r>
              <a:rPr sz="1500" b="0" i="0" u="none">
                <a:solidFill>
                  <a:srgbClr val="6E655C"/>
                </a:solidFill>
                <a:latin typeface="Inter"/>
              </a:rPr>
              <a:t>— never pile onto an unverified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7148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4D00"/>
                </a:solidFill>
                <a:latin typeface="Archivo Black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483971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 i="0" u="none">
                <a:solidFill>
                  <a:srgbClr val="14110F"/>
                </a:solidFill>
                <a:latin typeface="Archivo Black"/>
              </a:rPr>
              <a:t>SAVE YOUR WORK CONSTANTLY </a:t>
            </a:r>
            <a:r>
              <a:rPr sz="1500" b="0" i="0" u="none">
                <a:solidFill>
                  <a:srgbClr val="6E655C"/>
                </a:solidFill>
                <a:latin typeface="Inter"/>
              </a:rPr>
              <a:t>— version history is your rewind button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66080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4D00"/>
                </a:solidFill>
                <a:latin typeface="Archivo Black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54386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 i="0" u="none">
                <a:solidFill>
                  <a:srgbClr val="14110F"/>
                </a:solidFill>
                <a:latin typeface="Archivo Black"/>
              </a:rPr>
              <a:t>DON'T PANIC — START FRESH </a:t>
            </a:r>
            <a:r>
              <a:rPr sz="1500" b="0" i="0" u="none">
                <a:solidFill>
                  <a:srgbClr val="6E655C"/>
                </a:solidFill>
                <a:latin typeface="Inter"/>
              </a:rPr>
              <a:t>— the hard part isn't the how, it's the 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65012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4D00"/>
                </a:solidFill>
                <a:latin typeface="Archivo Black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60375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 i="0" u="none">
                <a:solidFill>
                  <a:srgbClr val="14110F"/>
                </a:solidFill>
                <a:latin typeface="Archivo Black"/>
              </a:rPr>
              <a:t>USE THE PLATFORM'S DIALECT </a:t>
            </a:r>
            <a:r>
              <a:rPr sz="1500" b="0" i="0" u="none">
                <a:solidFill>
                  <a:srgbClr val="6E655C"/>
                </a:solidFill>
                <a:latin typeface="Inter"/>
              </a:rPr>
              <a:t>— speak the way the tool wants to be spoken 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1338560" cy="1629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800" b="0" i="0" spc="-140">
                <a:solidFill>
                  <a:srgbClr val="14110F"/>
                </a:solidFill>
                <a:latin typeface="Archivo Black"/>
              </a:rPr>
              <a:t>ATTRIBUTES FOR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35504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300" b="0" i="0">
                <a:solidFill>
                  <a:srgbClr val="3A342E"/>
                </a:solidFill>
                <a:latin typeface="Inter"/>
              </a:rPr>
              <a:t>you don't need to be technical. you just need to be specific.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3410965"/>
            <a:ext cx="10545775" cy="0"/>
          </a:xfrm>
          <a:prstGeom prst="line">
            <a:avLst/>
          </a:prstGeom>
          <a:ln w="9525">
            <a:solidFill>
              <a:srgbClr val="E4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364871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4D00"/>
                </a:solidFill>
                <a:latin typeface="Archivo Black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575557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 spc="-50">
                <a:solidFill>
                  <a:srgbClr val="14110F"/>
                </a:solidFill>
                <a:latin typeface="Archivo Black"/>
              </a:rPr>
              <a:t>A WILLINGNESS TO LEARN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4252214"/>
            <a:ext cx="10545775" cy="0"/>
          </a:xfrm>
          <a:prstGeom prst="line">
            <a:avLst/>
          </a:prstGeom>
          <a:ln w="9525">
            <a:solidFill>
              <a:srgbClr val="E4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448995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4D00"/>
                </a:solidFill>
                <a:latin typeface="Archivo Black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416805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 spc="-50">
                <a:solidFill>
                  <a:srgbClr val="14110F"/>
                </a:solidFill>
                <a:latin typeface="Archivo Black"/>
              </a:rPr>
              <a:t>A WILLINGNESS TO WORK HARD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5093461"/>
            <a:ext cx="10545775" cy="0"/>
          </a:xfrm>
          <a:prstGeom prst="line">
            <a:avLst/>
          </a:prstGeom>
          <a:ln w="9525">
            <a:solidFill>
              <a:srgbClr val="E4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5331205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4D00"/>
                </a:solidFill>
                <a:latin typeface="Archivo Black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258053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 spc="-50">
                <a:solidFill>
                  <a:srgbClr val="14110F"/>
                </a:solidFill>
                <a:latin typeface="Archivo Black"/>
              </a:rPr>
              <a:t>KNOWING YOU ARE NOT GOING TO QUIT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5934709"/>
            <a:ext cx="10545775" cy="0"/>
          </a:xfrm>
          <a:prstGeom prst="line">
            <a:avLst/>
          </a:prstGeom>
          <a:ln w="9525">
            <a:solidFill>
              <a:srgbClr val="E4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